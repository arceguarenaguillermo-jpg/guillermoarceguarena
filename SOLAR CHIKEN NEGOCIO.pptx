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Nourd" panose="020B0604020202020204" charset="0"/>
      <p:regular r:id="rId11"/>
    </p:embeddedFont>
    <p:embeddedFont>
      <p:font typeface="Nourd Bold" panose="020B0604020202020204" charset="0"/>
      <p:regular r:id="rId12"/>
    </p:embeddedFont>
    <p:embeddedFont>
      <p:font typeface="Nourd Light" panose="020B0604020202020204" charset="0"/>
      <p:regular r:id="rId13"/>
    </p:embeddedFont>
    <p:embeddedFont>
      <p:font typeface="Nourd Semi-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illermo Arce Guarena" initials="GA" lastIdx="2" clrIdx="0">
    <p:extLst>
      <p:ext uri="{19B8F6BF-5375-455C-9EA6-DF929625EA0E}">
        <p15:presenceInfo xmlns:p15="http://schemas.microsoft.com/office/powerpoint/2012/main" userId="4aac8ed1c861c33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svg"/><Relationship Id="rId7" Type="http://schemas.openxmlformats.org/officeDocument/2006/relationships/image" Target="../media/image9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3" Type="http://schemas.openxmlformats.org/officeDocument/2006/relationships/image" Target="../media/image3.sv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25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99130" y="1441112"/>
            <a:ext cx="7705222" cy="2795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67"/>
              </a:lnSpc>
            </a:pPr>
            <a:r>
              <a:rPr lang="en-US" sz="16333" b="1" spc="-1241">
                <a:solidFill>
                  <a:srgbClr val="2B2B2B"/>
                </a:solidFill>
                <a:latin typeface="Nourd Bold"/>
                <a:ea typeface="Nourd Bold"/>
                <a:cs typeface="Nourd Bold"/>
                <a:sym typeface="Nourd Bold"/>
              </a:rPr>
              <a:t>Solar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43000" y="2936934"/>
            <a:ext cx="8461352" cy="27950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2867"/>
              </a:lnSpc>
            </a:pPr>
            <a:r>
              <a:rPr lang="en-US" sz="16333" b="1" spc="-1241" dirty="0">
                <a:solidFill>
                  <a:srgbClr val="B0DF12"/>
                </a:solidFill>
                <a:latin typeface="Nourd Bold"/>
                <a:ea typeface="Nourd Bold"/>
                <a:cs typeface="Nourd Bold"/>
                <a:sym typeface="Nourd Bold"/>
              </a:rPr>
              <a:t>Chicken</a:t>
            </a:r>
          </a:p>
        </p:txBody>
      </p:sp>
      <p:sp>
        <p:nvSpPr>
          <p:cNvPr id="4" name="Freeform 4"/>
          <p:cNvSpPr/>
          <p:nvPr/>
        </p:nvSpPr>
        <p:spPr>
          <a:xfrm>
            <a:off x="8423820" y="2143113"/>
            <a:ext cx="9268865" cy="6754685"/>
          </a:xfrm>
          <a:custGeom>
            <a:avLst/>
            <a:gdLst/>
            <a:ahLst/>
            <a:cxnLst/>
            <a:rect l="l" t="t" r="r" b="b"/>
            <a:pathLst>
              <a:path w="9268865" h="6754685">
                <a:moveTo>
                  <a:pt x="0" y="0"/>
                </a:moveTo>
                <a:lnTo>
                  <a:pt x="9268865" y="0"/>
                </a:lnTo>
                <a:lnTo>
                  <a:pt x="9268865" y="6754685"/>
                </a:lnTo>
                <a:lnTo>
                  <a:pt x="0" y="67546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5" name="Group 5"/>
          <p:cNvGrpSpPr/>
          <p:nvPr/>
        </p:nvGrpSpPr>
        <p:grpSpPr>
          <a:xfrm rot="-88432">
            <a:off x="1906955" y="6027158"/>
            <a:ext cx="5962199" cy="1370587"/>
            <a:chOff x="0" y="0"/>
            <a:chExt cx="1484786" cy="22213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84786" cy="222137"/>
            </a:xfrm>
            <a:custGeom>
              <a:avLst/>
              <a:gdLst/>
              <a:ahLst/>
              <a:cxnLst/>
              <a:rect l="l" t="t" r="r" b="b"/>
              <a:pathLst>
                <a:path w="1484786" h="222137">
                  <a:moveTo>
                    <a:pt x="0" y="0"/>
                  </a:moveTo>
                  <a:lnTo>
                    <a:pt x="1484786" y="0"/>
                  </a:lnTo>
                  <a:lnTo>
                    <a:pt x="1484786" y="222137"/>
                  </a:lnTo>
                  <a:lnTo>
                    <a:pt x="0" y="222137"/>
                  </a:lnTo>
                  <a:close/>
                </a:path>
              </a:pathLst>
            </a:custGeom>
            <a:solidFill>
              <a:srgbClr val="B0DF1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484786" cy="2602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00200" y="7549609"/>
            <a:ext cx="6294410" cy="1523489"/>
            <a:chOff x="0" y="-38100"/>
            <a:chExt cx="1225129" cy="203426"/>
          </a:xfrm>
        </p:grpSpPr>
        <p:sp>
          <p:nvSpPr>
            <p:cNvPr id="9" name="Freeform 9"/>
            <p:cNvSpPr/>
            <p:nvPr/>
          </p:nvSpPr>
          <p:spPr>
            <a:xfrm>
              <a:off x="0" y="50423"/>
              <a:ext cx="1225129" cy="114903"/>
            </a:xfrm>
            <a:custGeom>
              <a:avLst/>
              <a:gdLst/>
              <a:ahLst/>
              <a:cxnLst/>
              <a:rect l="l" t="t" r="r" b="b"/>
              <a:pathLst>
                <a:path w="1225129" h="114903">
                  <a:moveTo>
                    <a:pt x="57452" y="0"/>
                  </a:moveTo>
                  <a:lnTo>
                    <a:pt x="1167677" y="0"/>
                  </a:lnTo>
                  <a:cubicBezTo>
                    <a:pt x="1199407" y="0"/>
                    <a:pt x="1225129" y="25722"/>
                    <a:pt x="1225129" y="57452"/>
                  </a:cubicBezTo>
                  <a:lnTo>
                    <a:pt x="1225129" y="57452"/>
                  </a:lnTo>
                  <a:cubicBezTo>
                    <a:pt x="1225129" y="72689"/>
                    <a:pt x="1219076" y="87302"/>
                    <a:pt x="1208301" y="98076"/>
                  </a:cubicBezTo>
                  <a:cubicBezTo>
                    <a:pt x="1197527" y="108851"/>
                    <a:pt x="1182914" y="114903"/>
                    <a:pt x="1167677" y="114903"/>
                  </a:cubicBezTo>
                  <a:lnTo>
                    <a:pt x="57452" y="114903"/>
                  </a:lnTo>
                  <a:cubicBezTo>
                    <a:pt x="42215" y="114903"/>
                    <a:pt x="27602" y="108851"/>
                    <a:pt x="16827" y="98076"/>
                  </a:cubicBezTo>
                  <a:cubicBezTo>
                    <a:pt x="6053" y="87302"/>
                    <a:pt x="0" y="72689"/>
                    <a:pt x="0" y="57452"/>
                  </a:cubicBezTo>
                  <a:lnTo>
                    <a:pt x="0" y="57452"/>
                  </a:lnTo>
                  <a:cubicBezTo>
                    <a:pt x="0" y="42215"/>
                    <a:pt x="6053" y="27602"/>
                    <a:pt x="16827" y="16827"/>
                  </a:cubicBezTo>
                  <a:cubicBezTo>
                    <a:pt x="27602" y="6053"/>
                    <a:pt x="42215" y="0"/>
                    <a:pt x="57452" y="0"/>
                  </a:cubicBezTo>
                  <a:close/>
                </a:path>
              </a:pathLst>
            </a:custGeom>
            <a:solidFill>
              <a:srgbClr val="2B2B2B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25129" cy="153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 rot="-88432">
            <a:off x="2111903" y="6330731"/>
            <a:ext cx="5546254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705"/>
              </a:lnSpc>
            </a:pPr>
            <a:r>
              <a:rPr lang="en-US" sz="2400" b="1" spc="-133" dirty="0" err="1">
                <a:solidFill>
                  <a:srgbClr val="2B2B2B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Inteligencia</a:t>
            </a:r>
            <a:r>
              <a:rPr lang="en-US" sz="2400" b="1" spc="-133" dirty="0">
                <a:solidFill>
                  <a:srgbClr val="2B2B2B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 Energética y </a:t>
            </a:r>
            <a:r>
              <a:rPr lang="en-US" sz="3600" b="1" spc="-133" dirty="0" err="1">
                <a:solidFill>
                  <a:srgbClr val="2B2B2B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Avicultura</a:t>
            </a:r>
            <a:r>
              <a:rPr lang="en-US" sz="2400" b="1" spc="-133" dirty="0">
                <a:solidFill>
                  <a:srgbClr val="2B2B2B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 </a:t>
            </a:r>
            <a:r>
              <a:rPr lang="en-US" sz="2400" b="1" spc="-133" dirty="0" err="1">
                <a:solidFill>
                  <a:srgbClr val="2B2B2B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Sostenible</a:t>
            </a:r>
            <a:r>
              <a:rPr lang="en-US" sz="2400" b="1" spc="-133" dirty="0">
                <a:solidFill>
                  <a:srgbClr val="2B2B2B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 </a:t>
            </a:r>
            <a:r>
              <a:rPr lang="en-US" sz="2400" b="1" spc="-133" dirty="0" err="1">
                <a:solidFill>
                  <a:srgbClr val="2B2B2B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en</a:t>
            </a:r>
            <a:r>
              <a:rPr lang="en-US" sz="2400" b="1" spc="-133" dirty="0">
                <a:solidFill>
                  <a:srgbClr val="2B2B2B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 Riberalta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78428" y="8422628"/>
            <a:ext cx="5340693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460"/>
              </a:lnSpc>
            </a:pPr>
            <a:r>
              <a:rPr lang="en-US" sz="2400" spc="-121" dirty="0">
                <a:solidFill>
                  <a:srgbClr val="EDEDED"/>
                </a:solidFill>
                <a:latin typeface="Nourd"/>
                <a:ea typeface="Nourd"/>
                <a:cs typeface="Nourd"/>
                <a:sym typeface="Nourd"/>
              </a:rPr>
              <a:t>Guillermo Arce y Omar Colque ·</a:t>
            </a:r>
          </a:p>
          <a:p>
            <a:pPr marL="0" lvl="0" indent="0" algn="ctr">
              <a:lnSpc>
                <a:spcPts val="2460"/>
              </a:lnSpc>
            </a:pPr>
            <a:r>
              <a:rPr lang="en-US" sz="2400" spc="-121" dirty="0">
                <a:solidFill>
                  <a:srgbClr val="EDEDED"/>
                </a:solidFill>
                <a:latin typeface="Nourd"/>
                <a:ea typeface="Nourd"/>
                <a:cs typeface="Nourd"/>
                <a:sym typeface="Nourd"/>
              </a:rPr>
              <a:t> Riberalta, Bolivia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1775" y="1469233"/>
            <a:ext cx="647296" cy="938580"/>
          </a:xfrm>
          <a:custGeom>
            <a:avLst/>
            <a:gdLst/>
            <a:ahLst/>
            <a:cxnLst/>
            <a:rect l="l" t="t" r="r" b="b"/>
            <a:pathLst>
              <a:path w="647296" h="938580">
                <a:moveTo>
                  <a:pt x="0" y="0"/>
                </a:moveTo>
                <a:lnTo>
                  <a:pt x="647296" y="0"/>
                </a:lnTo>
                <a:lnTo>
                  <a:pt x="647296" y="938580"/>
                </a:lnTo>
                <a:lnTo>
                  <a:pt x="0" y="9385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Freeform 3"/>
          <p:cNvSpPr/>
          <p:nvPr/>
        </p:nvSpPr>
        <p:spPr>
          <a:xfrm>
            <a:off x="10084498" y="1340043"/>
            <a:ext cx="6624424" cy="7316130"/>
          </a:xfrm>
          <a:custGeom>
            <a:avLst/>
            <a:gdLst/>
            <a:ahLst/>
            <a:cxnLst/>
            <a:rect l="l" t="t" r="r" b="b"/>
            <a:pathLst>
              <a:path w="6624424" h="7316130">
                <a:moveTo>
                  <a:pt x="0" y="0"/>
                </a:moveTo>
                <a:lnTo>
                  <a:pt x="6624424" y="0"/>
                </a:lnTo>
                <a:lnTo>
                  <a:pt x="6624424" y="7316131"/>
                </a:lnTo>
                <a:lnTo>
                  <a:pt x="0" y="7316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4" name="TextBox 4"/>
          <p:cNvSpPr txBox="1"/>
          <p:nvPr/>
        </p:nvSpPr>
        <p:spPr>
          <a:xfrm>
            <a:off x="1734185" y="1168593"/>
            <a:ext cx="10858163" cy="1427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12"/>
              </a:lnSpc>
            </a:pPr>
            <a:r>
              <a:rPr lang="en-US" sz="8294" b="1" spc="-680">
                <a:solidFill>
                  <a:srgbClr val="2B2B2B"/>
                </a:solidFill>
                <a:latin typeface="Nourd Bold"/>
                <a:ea typeface="Nourd Bold"/>
                <a:cs typeface="Nourd Bold"/>
                <a:sym typeface="Nourd Bold"/>
              </a:rPr>
              <a:t>Resumen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45216" y="3314700"/>
            <a:ext cx="7365434" cy="41733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4060"/>
              </a:lnSpc>
            </a:pPr>
            <a:r>
              <a:rPr lang="en-US" sz="3200" b="1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Solar Chicken </a:t>
            </a:r>
            <a:r>
              <a:rPr lang="en-US" sz="3200" b="1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impulsa</a:t>
            </a:r>
            <a:r>
              <a:rPr lang="en-US" sz="3200" b="1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3200" b="1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granjas</a:t>
            </a:r>
            <a:r>
              <a:rPr lang="en-US" sz="3200" b="1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3200" b="1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avícolas</a:t>
            </a:r>
            <a:r>
              <a:rPr lang="en-US" sz="3200" b="1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con </a:t>
            </a:r>
            <a:r>
              <a:rPr lang="en-US" sz="3200" b="1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climatización</a:t>
            </a:r>
            <a:r>
              <a:rPr lang="en-US" sz="3200" b="1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solar para </a:t>
            </a:r>
            <a:r>
              <a:rPr lang="en-US" sz="3200" b="1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fortalecer</a:t>
            </a:r>
            <a:r>
              <a:rPr lang="en-US" sz="3200" b="1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la </a:t>
            </a:r>
            <a:r>
              <a:rPr lang="en-US" sz="3200" b="1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seguridad</a:t>
            </a:r>
            <a:r>
              <a:rPr lang="en-US" sz="3200" b="1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alimentaria </a:t>
            </a:r>
            <a:r>
              <a:rPr lang="en-US" sz="3200" b="1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en</a:t>
            </a:r>
            <a:r>
              <a:rPr lang="en-US" sz="3200" b="1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3200" b="1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comunidades</a:t>
            </a:r>
            <a:r>
              <a:rPr lang="en-US" sz="3200" b="1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3200" b="1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aisladas</a:t>
            </a:r>
            <a:r>
              <a:rPr lang="en-US" sz="3200" b="1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de Riberalta. El </a:t>
            </a:r>
            <a:r>
              <a:rPr lang="en-US" sz="3200" b="1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monitoreo</a:t>
            </a:r>
            <a:r>
              <a:rPr lang="en-US" sz="3200" b="1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3200" b="1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predictivo</a:t>
            </a:r>
            <a:r>
              <a:rPr lang="en-US" sz="3200" b="1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de </a:t>
            </a:r>
            <a:r>
              <a:rPr lang="en-US" sz="3200" b="1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energía</a:t>
            </a:r>
            <a:r>
              <a:rPr lang="en-US" sz="3200" b="1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3200" b="1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permite</a:t>
            </a:r>
            <a:r>
              <a:rPr lang="en-US" sz="3200" b="1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3200" b="1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anticipar</a:t>
            </a:r>
            <a:r>
              <a:rPr lang="en-US" sz="3200" b="1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cortes, </a:t>
            </a:r>
            <a:r>
              <a:rPr lang="en-US" sz="3200" b="1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optimizar</a:t>
            </a:r>
            <a:r>
              <a:rPr lang="en-US" sz="3200" b="1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3200" b="1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el</a:t>
            </a:r>
            <a:r>
              <a:rPr lang="en-US" sz="3200" b="1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3200" b="1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uso</a:t>
            </a:r>
            <a:r>
              <a:rPr lang="en-US" sz="3200" b="1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de </a:t>
            </a:r>
            <a:r>
              <a:rPr lang="en-US" sz="3200" b="1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baterías</a:t>
            </a:r>
            <a:r>
              <a:rPr lang="en-US" sz="3200" b="1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y </a:t>
            </a:r>
            <a:r>
              <a:rPr lang="en-US" sz="3200" b="1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mantener</a:t>
            </a:r>
            <a:r>
              <a:rPr lang="en-US" sz="3200" b="1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3200" b="1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condiciones</a:t>
            </a:r>
            <a:r>
              <a:rPr lang="en-US" sz="3200" b="1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3200" b="1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estables</a:t>
            </a:r>
            <a:r>
              <a:rPr lang="en-US" sz="3200" b="1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para la </a:t>
            </a:r>
            <a:r>
              <a:rPr lang="en-US" sz="3200" b="1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producción</a:t>
            </a:r>
            <a:r>
              <a:rPr lang="en-US" sz="3200" b="1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3200" b="1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avícola</a:t>
            </a:r>
            <a:r>
              <a:rPr lang="en-US" sz="3200" b="1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1775" y="1469233"/>
            <a:ext cx="647296" cy="938580"/>
          </a:xfrm>
          <a:custGeom>
            <a:avLst/>
            <a:gdLst/>
            <a:ahLst/>
            <a:cxnLst/>
            <a:rect l="l" t="t" r="r" b="b"/>
            <a:pathLst>
              <a:path w="647296" h="938580">
                <a:moveTo>
                  <a:pt x="0" y="0"/>
                </a:moveTo>
                <a:lnTo>
                  <a:pt x="647296" y="0"/>
                </a:lnTo>
                <a:lnTo>
                  <a:pt x="647296" y="938580"/>
                </a:lnTo>
                <a:lnTo>
                  <a:pt x="0" y="9385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3" name="Group 3"/>
          <p:cNvGrpSpPr/>
          <p:nvPr/>
        </p:nvGrpSpPr>
        <p:grpSpPr>
          <a:xfrm>
            <a:off x="1028700" y="4591777"/>
            <a:ext cx="5083153" cy="4666523"/>
            <a:chOff x="0" y="0"/>
            <a:chExt cx="1338773" cy="12290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38773" cy="1229043"/>
            </a:xfrm>
            <a:custGeom>
              <a:avLst/>
              <a:gdLst/>
              <a:ahLst/>
              <a:cxnLst/>
              <a:rect l="l" t="t" r="r" b="b"/>
              <a:pathLst>
                <a:path w="1338773" h="1229043">
                  <a:moveTo>
                    <a:pt x="39599" y="0"/>
                  </a:moveTo>
                  <a:lnTo>
                    <a:pt x="1299173" y="0"/>
                  </a:lnTo>
                  <a:cubicBezTo>
                    <a:pt x="1321043" y="0"/>
                    <a:pt x="1338773" y="17729"/>
                    <a:pt x="1338773" y="39599"/>
                  </a:cubicBezTo>
                  <a:lnTo>
                    <a:pt x="1338773" y="1189444"/>
                  </a:lnTo>
                  <a:cubicBezTo>
                    <a:pt x="1338773" y="1211314"/>
                    <a:pt x="1321043" y="1229043"/>
                    <a:pt x="1299173" y="1229043"/>
                  </a:cubicBezTo>
                  <a:lnTo>
                    <a:pt x="39599" y="1229043"/>
                  </a:lnTo>
                  <a:cubicBezTo>
                    <a:pt x="17729" y="1229043"/>
                    <a:pt x="0" y="1211314"/>
                    <a:pt x="0" y="1189444"/>
                  </a:cubicBezTo>
                  <a:lnTo>
                    <a:pt x="0" y="39599"/>
                  </a:lnTo>
                  <a:cubicBezTo>
                    <a:pt x="0" y="17729"/>
                    <a:pt x="17729" y="0"/>
                    <a:pt x="39599" y="0"/>
                  </a:cubicBezTo>
                  <a:close/>
                </a:path>
              </a:pathLst>
            </a:custGeom>
            <a:solidFill>
              <a:srgbClr val="B0DF1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338773" cy="12671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02424" y="4591777"/>
            <a:ext cx="5083153" cy="4666523"/>
            <a:chOff x="0" y="0"/>
            <a:chExt cx="1338773" cy="122904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38773" cy="1229043"/>
            </a:xfrm>
            <a:custGeom>
              <a:avLst/>
              <a:gdLst/>
              <a:ahLst/>
              <a:cxnLst/>
              <a:rect l="l" t="t" r="r" b="b"/>
              <a:pathLst>
                <a:path w="1338773" h="1229043">
                  <a:moveTo>
                    <a:pt x="39599" y="0"/>
                  </a:moveTo>
                  <a:lnTo>
                    <a:pt x="1299173" y="0"/>
                  </a:lnTo>
                  <a:cubicBezTo>
                    <a:pt x="1321043" y="0"/>
                    <a:pt x="1338773" y="17729"/>
                    <a:pt x="1338773" y="39599"/>
                  </a:cubicBezTo>
                  <a:lnTo>
                    <a:pt x="1338773" y="1189444"/>
                  </a:lnTo>
                  <a:cubicBezTo>
                    <a:pt x="1338773" y="1211314"/>
                    <a:pt x="1321043" y="1229043"/>
                    <a:pt x="1299173" y="1229043"/>
                  </a:cubicBezTo>
                  <a:lnTo>
                    <a:pt x="39599" y="1229043"/>
                  </a:lnTo>
                  <a:cubicBezTo>
                    <a:pt x="17729" y="1229043"/>
                    <a:pt x="0" y="1211314"/>
                    <a:pt x="0" y="1189444"/>
                  </a:cubicBezTo>
                  <a:lnTo>
                    <a:pt x="0" y="39599"/>
                  </a:lnTo>
                  <a:cubicBezTo>
                    <a:pt x="0" y="17729"/>
                    <a:pt x="17729" y="0"/>
                    <a:pt x="39599" y="0"/>
                  </a:cubicBezTo>
                  <a:close/>
                </a:path>
              </a:pathLst>
            </a:custGeom>
            <a:solidFill>
              <a:srgbClr val="B0DF1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338773" cy="12671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176147" y="4591777"/>
            <a:ext cx="5083153" cy="4666523"/>
            <a:chOff x="0" y="0"/>
            <a:chExt cx="1338773" cy="122904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38773" cy="1229043"/>
            </a:xfrm>
            <a:custGeom>
              <a:avLst/>
              <a:gdLst/>
              <a:ahLst/>
              <a:cxnLst/>
              <a:rect l="l" t="t" r="r" b="b"/>
              <a:pathLst>
                <a:path w="1338773" h="1229043">
                  <a:moveTo>
                    <a:pt x="39599" y="0"/>
                  </a:moveTo>
                  <a:lnTo>
                    <a:pt x="1299173" y="0"/>
                  </a:lnTo>
                  <a:cubicBezTo>
                    <a:pt x="1321043" y="0"/>
                    <a:pt x="1338773" y="17729"/>
                    <a:pt x="1338773" y="39599"/>
                  </a:cubicBezTo>
                  <a:lnTo>
                    <a:pt x="1338773" y="1189444"/>
                  </a:lnTo>
                  <a:cubicBezTo>
                    <a:pt x="1338773" y="1211314"/>
                    <a:pt x="1321043" y="1229043"/>
                    <a:pt x="1299173" y="1229043"/>
                  </a:cubicBezTo>
                  <a:lnTo>
                    <a:pt x="39599" y="1229043"/>
                  </a:lnTo>
                  <a:cubicBezTo>
                    <a:pt x="17729" y="1229043"/>
                    <a:pt x="0" y="1211314"/>
                    <a:pt x="0" y="1189444"/>
                  </a:cubicBezTo>
                  <a:lnTo>
                    <a:pt x="0" y="39599"/>
                  </a:lnTo>
                  <a:cubicBezTo>
                    <a:pt x="0" y="17729"/>
                    <a:pt x="17729" y="0"/>
                    <a:pt x="39599" y="0"/>
                  </a:cubicBezTo>
                  <a:close/>
                </a:path>
              </a:pathLst>
            </a:custGeom>
            <a:solidFill>
              <a:srgbClr val="B0DF12"/>
            </a:solidFill>
          </p:spPr>
          <p:txBody>
            <a:bodyPr/>
            <a:lstStyle/>
            <a:p>
              <a:endParaRPr lang="es-ES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338773" cy="12671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4519521" y="5043020"/>
            <a:ext cx="1287081" cy="1287081"/>
          </a:xfrm>
          <a:custGeom>
            <a:avLst/>
            <a:gdLst/>
            <a:ahLst/>
            <a:cxnLst/>
            <a:rect l="l" t="t" r="r" b="b"/>
            <a:pathLst>
              <a:path w="1287081" h="1287081">
                <a:moveTo>
                  <a:pt x="0" y="0"/>
                </a:moveTo>
                <a:lnTo>
                  <a:pt x="1287080" y="0"/>
                </a:lnTo>
                <a:lnTo>
                  <a:pt x="1287080" y="1287080"/>
                </a:lnTo>
                <a:lnTo>
                  <a:pt x="0" y="12870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3" name="Freeform 13"/>
          <p:cNvSpPr/>
          <p:nvPr/>
        </p:nvSpPr>
        <p:spPr>
          <a:xfrm>
            <a:off x="9977278" y="5085801"/>
            <a:ext cx="1403047" cy="1201519"/>
          </a:xfrm>
          <a:custGeom>
            <a:avLst/>
            <a:gdLst/>
            <a:ahLst/>
            <a:cxnLst/>
            <a:rect l="l" t="t" r="r" b="b"/>
            <a:pathLst>
              <a:path w="1403047" h="1201519">
                <a:moveTo>
                  <a:pt x="0" y="0"/>
                </a:moveTo>
                <a:lnTo>
                  <a:pt x="1403047" y="0"/>
                </a:lnTo>
                <a:lnTo>
                  <a:pt x="1403047" y="1201518"/>
                </a:lnTo>
                <a:lnTo>
                  <a:pt x="0" y="12015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4" name="Freeform 14"/>
          <p:cNvSpPr/>
          <p:nvPr/>
        </p:nvSpPr>
        <p:spPr>
          <a:xfrm>
            <a:off x="15665226" y="5043020"/>
            <a:ext cx="1333134" cy="1287081"/>
          </a:xfrm>
          <a:custGeom>
            <a:avLst/>
            <a:gdLst/>
            <a:ahLst/>
            <a:cxnLst/>
            <a:rect l="l" t="t" r="r" b="b"/>
            <a:pathLst>
              <a:path w="1333134" h="1287081">
                <a:moveTo>
                  <a:pt x="0" y="0"/>
                </a:moveTo>
                <a:lnTo>
                  <a:pt x="1333135" y="0"/>
                </a:lnTo>
                <a:lnTo>
                  <a:pt x="1333135" y="1287080"/>
                </a:lnTo>
                <a:lnTo>
                  <a:pt x="0" y="12870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5" name="TextBox 15"/>
          <p:cNvSpPr txBox="1"/>
          <p:nvPr/>
        </p:nvSpPr>
        <p:spPr>
          <a:xfrm>
            <a:off x="1734185" y="1168593"/>
            <a:ext cx="15525115" cy="1427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12"/>
              </a:lnSpc>
            </a:pPr>
            <a:r>
              <a:rPr lang="en-US" sz="8294" b="1" spc="-680">
                <a:solidFill>
                  <a:srgbClr val="2B2B2B"/>
                </a:solidFill>
                <a:latin typeface="Nourd Bold"/>
                <a:ea typeface="Nourd Bold"/>
                <a:cs typeface="Nourd Bold"/>
                <a:sym typeface="Nourd Bold"/>
              </a:rPr>
              <a:t>Propuesta de Valor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59071" y="2808605"/>
            <a:ext cx="15700229" cy="1012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7"/>
              </a:lnSpc>
            </a:pPr>
            <a:r>
              <a:rPr lang="en-US" sz="2897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Solar Chicken impulsa una avicultura sostenible con energía solar, datos inteligentes y continuidad productiva en Riberalta.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33951" y="6702761"/>
            <a:ext cx="4472650" cy="1167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80"/>
              </a:lnSpc>
            </a:pPr>
            <a:r>
              <a:rPr lang="en-US" sz="24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Autonomía</a:t>
            </a:r>
            <a:r>
              <a:rPr lang="en-US" sz="24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24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fotovoltaica</a:t>
            </a:r>
            <a:r>
              <a:rPr lang="en-US" sz="24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para </a:t>
            </a:r>
            <a:r>
              <a:rPr lang="en-US" sz="24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climatizar</a:t>
            </a:r>
            <a:r>
              <a:rPr lang="en-US" sz="24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las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granjas</a:t>
            </a:r>
            <a:r>
              <a:rPr lang="en-US" sz="24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y </a:t>
            </a:r>
            <a:r>
              <a:rPr lang="en-US" sz="24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reducir</a:t>
            </a:r>
            <a:r>
              <a:rPr lang="en-US" sz="24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la </a:t>
            </a:r>
            <a:r>
              <a:rPr lang="en-US" sz="24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dependencia</a:t>
            </a:r>
            <a:r>
              <a:rPr lang="en-US" sz="24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de redes </a:t>
            </a:r>
            <a:r>
              <a:rPr lang="en-US" sz="24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inestables</a:t>
            </a:r>
            <a:r>
              <a:rPr lang="en-US" sz="24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907675" y="6702761"/>
            <a:ext cx="4472650" cy="1167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80"/>
              </a:lnSpc>
            </a:pPr>
            <a:r>
              <a:rPr lang="en-US" sz="24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Analítica</a:t>
            </a:r>
            <a:r>
              <a:rPr lang="en-US" sz="24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24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predictiva</a:t>
            </a:r>
            <a:r>
              <a:rPr lang="en-US" sz="24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para </a:t>
            </a:r>
            <a:r>
              <a:rPr lang="en-US" sz="24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anticipar</a:t>
            </a:r>
            <a:r>
              <a:rPr lang="en-US" sz="24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cortes, </a:t>
            </a:r>
            <a:r>
              <a:rPr lang="en-US" sz="24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optimizar</a:t>
            </a:r>
            <a:r>
              <a:rPr lang="en-US" sz="24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24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el</a:t>
            </a:r>
            <a:r>
              <a:rPr lang="en-US" sz="24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24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consumo</a:t>
            </a:r>
            <a:r>
              <a:rPr lang="en-US" sz="24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y </a:t>
            </a:r>
            <a:r>
              <a:rPr lang="en-US" sz="24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proteger</a:t>
            </a:r>
            <a:r>
              <a:rPr lang="en-US" sz="24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la </a:t>
            </a:r>
            <a:r>
              <a:rPr lang="en-US" sz="24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operación</a:t>
            </a:r>
            <a:r>
              <a:rPr lang="en-US" sz="24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481399" y="6702761"/>
            <a:ext cx="4472650" cy="1167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80"/>
              </a:lnSpc>
            </a:pPr>
            <a:r>
              <a:rPr lang="en-US" sz="24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Producción</a:t>
            </a:r>
            <a:r>
              <a:rPr lang="en-US" sz="24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24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avícola</a:t>
            </a:r>
            <a:r>
              <a:rPr lang="en-US" sz="24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continua gracias a </a:t>
            </a:r>
            <a:r>
              <a:rPr lang="en-US" sz="24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energía</a:t>
            </a:r>
            <a:r>
              <a:rPr lang="en-US" sz="24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24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confiable</a:t>
            </a:r>
            <a:r>
              <a:rPr lang="en-US" sz="24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y </a:t>
            </a:r>
            <a:r>
              <a:rPr lang="en-US" sz="24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monitoreo</a:t>
            </a:r>
            <a:r>
              <a:rPr lang="en-US" sz="24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24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inteligente</a:t>
            </a:r>
            <a:r>
              <a:rPr lang="en-US" sz="24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33951" y="5414754"/>
            <a:ext cx="2441243" cy="104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533"/>
              </a:lnSpc>
            </a:pPr>
            <a:r>
              <a:rPr lang="en-US" sz="6095" b="1" spc="-420">
                <a:solidFill>
                  <a:srgbClr val="2B2B2B"/>
                </a:solidFill>
                <a:latin typeface="Nourd Bold"/>
                <a:ea typeface="Nourd Bold"/>
                <a:cs typeface="Nourd Bold"/>
                <a:sym typeface="Nourd Bold"/>
              </a:rPr>
              <a:t>100%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907675" y="5414754"/>
            <a:ext cx="2441243" cy="104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533"/>
              </a:lnSpc>
            </a:pPr>
            <a:r>
              <a:rPr lang="en-US" sz="6095" b="1" spc="-420">
                <a:solidFill>
                  <a:srgbClr val="2B2B2B"/>
                </a:solidFill>
                <a:latin typeface="Nourd Bold"/>
                <a:ea typeface="Nourd Bold"/>
                <a:cs typeface="Nourd Bold"/>
                <a:sym typeface="Nourd Bold"/>
              </a:rPr>
              <a:t>24/7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481399" y="5414754"/>
            <a:ext cx="2441243" cy="1005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533"/>
              </a:lnSpc>
            </a:pPr>
            <a:r>
              <a:rPr lang="en-US" sz="6095" b="1" spc="-420" dirty="0">
                <a:solidFill>
                  <a:srgbClr val="2B2B2B"/>
                </a:solidFill>
                <a:latin typeface="Nourd Bold"/>
                <a:ea typeface="Nourd Bold"/>
                <a:cs typeface="Nourd Bold"/>
                <a:sym typeface="Nourd Bold"/>
              </a:rPr>
              <a:t>100 %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1775" y="1469233"/>
            <a:ext cx="647296" cy="938580"/>
          </a:xfrm>
          <a:custGeom>
            <a:avLst/>
            <a:gdLst/>
            <a:ahLst/>
            <a:cxnLst/>
            <a:rect l="l" t="t" r="r" b="b"/>
            <a:pathLst>
              <a:path w="647296" h="938580">
                <a:moveTo>
                  <a:pt x="0" y="0"/>
                </a:moveTo>
                <a:lnTo>
                  <a:pt x="647296" y="0"/>
                </a:lnTo>
                <a:lnTo>
                  <a:pt x="647296" y="938580"/>
                </a:lnTo>
                <a:lnTo>
                  <a:pt x="0" y="9385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TextBox 3"/>
          <p:cNvSpPr txBox="1"/>
          <p:nvPr/>
        </p:nvSpPr>
        <p:spPr>
          <a:xfrm>
            <a:off x="1734185" y="1168593"/>
            <a:ext cx="15525115" cy="1427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12"/>
              </a:lnSpc>
            </a:pPr>
            <a:r>
              <a:rPr lang="en-US" sz="8294" b="1" spc="-680">
                <a:solidFill>
                  <a:srgbClr val="2B2B2B"/>
                </a:solidFill>
                <a:latin typeface="Nourd Bold"/>
                <a:ea typeface="Nourd Bold"/>
                <a:cs typeface="Nourd Bold"/>
                <a:sym typeface="Nourd Bold"/>
              </a:rPr>
              <a:t>Modelo de Negocio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2235166" y="3398888"/>
            <a:ext cx="6327661" cy="5859412"/>
            <a:chOff x="0" y="0"/>
            <a:chExt cx="1666545" cy="15432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66545" cy="1543220"/>
            </a:xfrm>
            <a:custGeom>
              <a:avLst/>
              <a:gdLst/>
              <a:ahLst/>
              <a:cxnLst/>
              <a:rect l="l" t="t" r="r" b="b"/>
              <a:pathLst>
                <a:path w="1666545" h="1543220">
                  <a:moveTo>
                    <a:pt x="28141" y="0"/>
                  </a:moveTo>
                  <a:lnTo>
                    <a:pt x="1638404" y="0"/>
                  </a:lnTo>
                  <a:cubicBezTo>
                    <a:pt x="1653946" y="0"/>
                    <a:pt x="1666545" y="12599"/>
                    <a:pt x="1666545" y="28141"/>
                  </a:cubicBezTo>
                  <a:lnTo>
                    <a:pt x="1666545" y="1515079"/>
                  </a:lnTo>
                  <a:cubicBezTo>
                    <a:pt x="1666545" y="1522543"/>
                    <a:pt x="1663580" y="1529700"/>
                    <a:pt x="1658302" y="1534978"/>
                  </a:cubicBezTo>
                  <a:cubicBezTo>
                    <a:pt x="1653025" y="1540255"/>
                    <a:pt x="1645867" y="1543220"/>
                    <a:pt x="1638404" y="1543220"/>
                  </a:cubicBezTo>
                  <a:lnTo>
                    <a:pt x="28141" y="1543220"/>
                  </a:lnTo>
                  <a:cubicBezTo>
                    <a:pt x="20677" y="1543220"/>
                    <a:pt x="13520" y="1540255"/>
                    <a:pt x="8242" y="1534978"/>
                  </a:cubicBezTo>
                  <a:cubicBezTo>
                    <a:pt x="2965" y="1529700"/>
                    <a:pt x="0" y="1522543"/>
                    <a:pt x="0" y="1515079"/>
                  </a:cubicBezTo>
                  <a:lnTo>
                    <a:pt x="0" y="28141"/>
                  </a:lnTo>
                  <a:cubicBezTo>
                    <a:pt x="0" y="20677"/>
                    <a:pt x="2965" y="13520"/>
                    <a:pt x="8242" y="8242"/>
                  </a:cubicBezTo>
                  <a:cubicBezTo>
                    <a:pt x="13520" y="2965"/>
                    <a:pt x="20677" y="0"/>
                    <a:pt x="28141" y="0"/>
                  </a:cubicBezTo>
                  <a:close/>
                </a:path>
              </a:pathLst>
            </a:custGeom>
            <a:solidFill>
              <a:srgbClr val="C2C2C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666545" cy="15813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725172" y="3398888"/>
            <a:ext cx="6327661" cy="5859412"/>
            <a:chOff x="0" y="0"/>
            <a:chExt cx="1666545" cy="15432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66545" cy="1543220"/>
            </a:xfrm>
            <a:custGeom>
              <a:avLst/>
              <a:gdLst/>
              <a:ahLst/>
              <a:cxnLst/>
              <a:rect l="l" t="t" r="r" b="b"/>
              <a:pathLst>
                <a:path w="1666545" h="1543220">
                  <a:moveTo>
                    <a:pt x="28141" y="0"/>
                  </a:moveTo>
                  <a:lnTo>
                    <a:pt x="1638404" y="0"/>
                  </a:lnTo>
                  <a:cubicBezTo>
                    <a:pt x="1653946" y="0"/>
                    <a:pt x="1666545" y="12599"/>
                    <a:pt x="1666545" y="28141"/>
                  </a:cubicBezTo>
                  <a:lnTo>
                    <a:pt x="1666545" y="1515079"/>
                  </a:lnTo>
                  <a:cubicBezTo>
                    <a:pt x="1666545" y="1522543"/>
                    <a:pt x="1663580" y="1529700"/>
                    <a:pt x="1658302" y="1534978"/>
                  </a:cubicBezTo>
                  <a:cubicBezTo>
                    <a:pt x="1653025" y="1540255"/>
                    <a:pt x="1645867" y="1543220"/>
                    <a:pt x="1638404" y="1543220"/>
                  </a:cubicBezTo>
                  <a:lnTo>
                    <a:pt x="28141" y="1543220"/>
                  </a:lnTo>
                  <a:cubicBezTo>
                    <a:pt x="20677" y="1543220"/>
                    <a:pt x="13520" y="1540255"/>
                    <a:pt x="8242" y="1534978"/>
                  </a:cubicBezTo>
                  <a:cubicBezTo>
                    <a:pt x="2965" y="1529700"/>
                    <a:pt x="0" y="1522543"/>
                    <a:pt x="0" y="1515079"/>
                  </a:cubicBezTo>
                  <a:lnTo>
                    <a:pt x="0" y="28141"/>
                  </a:lnTo>
                  <a:cubicBezTo>
                    <a:pt x="0" y="20677"/>
                    <a:pt x="2965" y="13520"/>
                    <a:pt x="8242" y="8242"/>
                  </a:cubicBezTo>
                  <a:cubicBezTo>
                    <a:pt x="13520" y="2965"/>
                    <a:pt x="20677" y="0"/>
                    <a:pt x="28141" y="0"/>
                  </a:cubicBezTo>
                  <a:close/>
                </a:path>
              </a:pathLst>
            </a:custGeom>
            <a:solidFill>
              <a:srgbClr val="B0DF1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666545" cy="15813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587224" y="3830224"/>
            <a:ext cx="5623546" cy="530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36"/>
              </a:lnSpc>
            </a:pPr>
            <a:r>
              <a:rPr lang="en-US" sz="3097" b="1">
                <a:solidFill>
                  <a:srgbClr val="2B2B2B"/>
                </a:solidFill>
                <a:latin typeface="Nourd Bold"/>
                <a:ea typeface="Nourd Bold"/>
                <a:cs typeface="Nourd Bold"/>
                <a:sym typeface="Nourd Bold"/>
              </a:rPr>
              <a:t>Clientes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077230" y="3830224"/>
            <a:ext cx="5623546" cy="530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36"/>
              </a:lnSpc>
            </a:pPr>
            <a:r>
              <a:rPr lang="en-US" sz="3097" b="1">
                <a:solidFill>
                  <a:srgbClr val="2B2B2B"/>
                </a:solidFill>
                <a:latin typeface="Nourd Bold"/>
                <a:ea typeface="Nourd Bold"/>
                <a:cs typeface="Nourd Bold"/>
                <a:sym typeface="Nourd Bold"/>
              </a:rPr>
              <a:t>Ingresos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87224" y="4626475"/>
            <a:ext cx="5623546" cy="2308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</a:pP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Comunidades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aisladas</a:t>
            </a:r>
            <a:endParaRPr lang="en-US" sz="2800" dirty="0">
              <a:solidFill>
                <a:srgbClr val="2B2B2B"/>
              </a:solidFill>
              <a:latin typeface="Nourd Light"/>
              <a:ea typeface="Nourd Light"/>
              <a:cs typeface="Nourd Light"/>
              <a:sym typeface="Nourd Light"/>
            </a:endParaRPr>
          </a:p>
          <a:p>
            <a:pPr marL="0" lvl="0" indent="0" algn="l">
              <a:lnSpc>
                <a:spcPts val="3640"/>
              </a:lnSpc>
            </a:pP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Productores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avícolas</a:t>
            </a:r>
            <a:endParaRPr lang="en-US" sz="2800" dirty="0">
              <a:solidFill>
                <a:srgbClr val="2B2B2B"/>
              </a:solidFill>
              <a:latin typeface="Nourd Light"/>
              <a:ea typeface="Nourd Light"/>
              <a:cs typeface="Nourd Light"/>
              <a:sym typeface="Nourd Light"/>
            </a:endParaRPr>
          </a:p>
          <a:p>
            <a:pPr marL="0" lvl="0" indent="0" algn="l">
              <a:lnSpc>
                <a:spcPts val="3640"/>
              </a:lnSpc>
            </a:pP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Granjas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familiares</a:t>
            </a:r>
            <a:endParaRPr lang="en-US" sz="2800" dirty="0">
              <a:solidFill>
                <a:srgbClr val="2B2B2B"/>
              </a:solidFill>
              <a:latin typeface="Nourd Light"/>
              <a:ea typeface="Nourd Light"/>
              <a:cs typeface="Nourd Light"/>
              <a:sym typeface="Nourd Light"/>
            </a:endParaRPr>
          </a:p>
          <a:p>
            <a:pPr marL="0" lvl="0" indent="0" algn="l">
              <a:lnSpc>
                <a:spcPts val="3640"/>
              </a:lnSpc>
            </a:pP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Cooperativas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rurales</a:t>
            </a:r>
          </a:p>
          <a:p>
            <a:pPr marL="0" lvl="0" indent="0" algn="l">
              <a:lnSpc>
                <a:spcPts val="3640"/>
              </a:lnSpc>
            </a:pP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Emprendimientos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amazónicos</a:t>
            </a:r>
            <a:endParaRPr lang="en-US" sz="2800" dirty="0">
              <a:solidFill>
                <a:srgbClr val="2B2B2B"/>
              </a:solidFill>
              <a:latin typeface="Nourd Light"/>
              <a:ea typeface="Nourd Light"/>
              <a:cs typeface="Nourd Light"/>
              <a:sym typeface="Nourd Ligh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077230" y="4626475"/>
            <a:ext cx="5623546" cy="1817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</a:pP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Sistemas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llave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en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mano</a:t>
            </a:r>
          </a:p>
          <a:p>
            <a:pPr marL="0" lvl="0" indent="0" algn="l">
              <a:lnSpc>
                <a:spcPts val="3640"/>
              </a:lnSpc>
            </a:pP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Consultorías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técnicas</a:t>
            </a:r>
            <a:endParaRPr lang="en-US" sz="2800" dirty="0">
              <a:solidFill>
                <a:srgbClr val="2B2B2B"/>
              </a:solidFill>
              <a:latin typeface="Nourd Light"/>
              <a:ea typeface="Nourd Light"/>
              <a:cs typeface="Nourd Light"/>
              <a:sym typeface="Nourd Light"/>
            </a:endParaRPr>
          </a:p>
          <a:p>
            <a:pPr marL="0" lvl="0" indent="0" algn="l">
              <a:lnSpc>
                <a:spcPts val="3640"/>
              </a:lnSpc>
            </a:pP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Implementación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y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soporte</a:t>
            </a:r>
            <a:endParaRPr lang="en-US" sz="2800" dirty="0">
              <a:solidFill>
                <a:srgbClr val="2B2B2B"/>
              </a:solidFill>
              <a:latin typeface="Nourd Light"/>
              <a:ea typeface="Nourd Light"/>
              <a:cs typeface="Nourd Light"/>
              <a:sym typeface="Nourd Light"/>
            </a:endParaRPr>
          </a:p>
          <a:p>
            <a:pPr marL="0" lvl="0" indent="0" algn="l">
              <a:lnSpc>
                <a:spcPts val="3640"/>
              </a:lnSpc>
            </a:pP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Escalabilidad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por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comunidad</a:t>
            </a:r>
            <a:endParaRPr lang="en-US" sz="2800" dirty="0">
              <a:solidFill>
                <a:srgbClr val="2B2B2B"/>
              </a:solidFill>
              <a:latin typeface="Nourd Light"/>
              <a:ea typeface="Nourd Light"/>
              <a:cs typeface="Nourd Light"/>
              <a:sym typeface="Nourd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1775" y="1469233"/>
            <a:ext cx="647296" cy="938580"/>
          </a:xfrm>
          <a:custGeom>
            <a:avLst/>
            <a:gdLst/>
            <a:ahLst/>
            <a:cxnLst/>
            <a:rect l="l" t="t" r="r" b="b"/>
            <a:pathLst>
              <a:path w="647296" h="938580">
                <a:moveTo>
                  <a:pt x="0" y="0"/>
                </a:moveTo>
                <a:lnTo>
                  <a:pt x="647296" y="0"/>
                </a:lnTo>
                <a:lnTo>
                  <a:pt x="647296" y="938580"/>
                </a:lnTo>
                <a:lnTo>
                  <a:pt x="0" y="9385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Freeform 3"/>
          <p:cNvSpPr/>
          <p:nvPr/>
        </p:nvSpPr>
        <p:spPr>
          <a:xfrm flipH="1">
            <a:off x="1559071" y="3398888"/>
            <a:ext cx="5909841" cy="5533760"/>
          </a:xfrm>
          <a:custGeom>
            <a:avLst/>
            <a:gdLst/>
            <a:ahLst/>
            <a:cxnLst/>
            <a:rect l="l" t="t" r="r" b="b"/>
            <a:pathLst>
              <a:path w="5909841" h="5533760">
                <a:moveTo>
                  <a:pt x="5909841" y="0"/>
                </a:moveTo>
                <a:lnTo>
                  <a:pt x="0" y="0"/>
                </a:lnTo>
                <a:lnTo>
                  <a:pt x="0" y="5533760"/>
                </a:lnTo>
                <a:lnTo>
                  <a:pt x="5909841" y="5533760"/>
                </a:lnTo>
                <a:lnTo>
                  <a:pt x="590984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4" name="Group 4"/>
          <p:cNvGrpSpPr/>
          <p:nvPr/>
        </p:nvGrpSpPr>
        <p:grpSpPr>
          <a:xfrm>
            <a:off x="9144000" y="3398888"/>
            <a:ext cx="8115300" cy="1225524"/>
            <a:chOff x="0" y="0"/>
            <a:chExt cx="2137363" cy="32277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37363" cy="322772"/>
            </a:xfrm>
            <a:custGeom>
              <a:avLst/>
              <a:gdLst/>
              <a:ahLst/>
              <a:cxnLst/>
              <a:rect l="l" t="t" r="r" b="b"/>
              <a:pathLst>
                <a:path w="2137363" h="322772">
                  <a:moveTo>
                    <a:pt x="15264" y="0"/>
                  </a:moveTo>
                  <a:lnTo>
                    <a:pt x="2122099" y="0"/>
                  </a:lnTo>
                  <a:cubicBezTo>
                    <a:pt x="2126147" y="0"/>
                    <a:pt x="2130030" y="1608"/>
                    <a:pt x="2132892" y="4471"/>
                  </a:cubicBezTo>
                  <a:cubicBezTo>
                    <a:pt x="2135755" y="7333"/>
                    <a:pt x="2137363" y="11216"/>
                    <a:pt x="2137363" y="15264"/>
                  </a:cubicBezTo>
                  <a:lnTo>
                    <a:pt x="2137363" y="307508"/>
                  </a:lnTo>
                  <a:cubicBezTo>
                    <a:pt x="2137363" y="311556"/>
                    <a:pt x="2135755" y="315439"/>
                    <a:pt x="2132892" y="318301"/>
                  </a:cubicBezTo>
                  <a:cubicBezTo>
                    <a:pt x="2130030" y="321164"/>
                    <a:pt x="2126147" y="322772"/>
                    <a:pt x="2122099" y="322772"/>
                  </a:cubicBezTo>
                  <a:lnTo>
                    <a:pt x="15264" y="322772"/>
                  </a:lnTo>
                  <a:cubicBezTo>
                    <a:pt x="11216" y="322772"/>
                    <a:pt x="7333" y="321164"/>
                    <a:pt x="4471" y="318301"/>
                  </a:cubicBezTo>
                  <a:cubicBezTo>
                    <a:pt x="1608" y="315439"/>
                    <a:pt x="0" y="311556"/>
                    <a:pt x="0" y="307508"/>
                  </a:cubicBezTo>
                  <a:lnTo>
                    <a:pt x="0" y="15264"/>
                  </a:lnTo>
                  <a:cubicBezTo>
                    <a:pt x="0" y="11216"/>
                    <a:pt x="1608" y="7333"/>
                    <a:pt x="4471" y="4471"/>
                  </a:cubicBezTo>
                  <a:cubicBezTo>
                    <a:pt x="7333" y="1608"/>
                    <a:pt x="11216" y="0"/>
                    <a:pt x="15264" y="0"/>
                  </a:cubicBezTo>
                  <a:close/>
                </a:path>
              </a:pathLst>
            </a:custGeom>
            <a:solidFill>
              <a:srgbClr val="B0DF12"/>
            </a:solidFill>
          </p:spPr>
          <p:txBody>
            <a:bodyPr/>
            <a:lstStyle/>
            <a:p>
              <a:endParaRPr lang="es-ES" dirty="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37363" cy="3608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144000" y="4760423"/>
            <a:ext cx="8115300" cy="1225524"/>
            <a:chOff x="0" y="0"/>
            <a:chExt cx="2137363" cy="32277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37363" cy="322772"/>
            </a:xfrm>
            <a:custGeom>
              <a:avLst/>
              <a:gdLst/>
              <a:ahLst/>
              <a:cxnLst/>
              <a:rect l="l" t="t" r="r" b="b"/>
              <a:pathLst>
                <a:path w="2137363" h="322772">
                  <a:moveTo>
                    <a:pt x="15264" y="0"/>
                  </a:moveTo>
                  <a:lnTo>
                    <a:pt x="2122099" y="0"/>
                  </a:lnTo>
                  <a:cubicBezTo>
                    <a:pt x="2126147" y="0"/>
                    <a:pt x="2130030" y="1608"/>
                    <a:pt x="2132892" y="4471"/>
                  </a:cubicBezTo>
                  <a:cubicBezTo>
                    <a:pt x="2135755" y="7333"/>
                    <a:pt x="2137363" y="11216"/>
                    <a:pt x="2137363" y="15264"/>
                  </a:cubicBezTo>
                  <a:lnTo>
                    <a:pt x="2137363" y="307508"/>
                  </a:lnTo>
                  <a:cubicBezTo>
                    <a:pt x="2137363" y="311556"/>
                    <a:pt x="2135755" y="315439"/>
                    <a:pt x="2132892" y="318301"/>
                  </a:cubicBezTo>
                  <a:cubicBezTo>
                    <a:pt x="2130030" y="321164"/>
                    <a:pt x="2126147" y="322772"/>
                    <a:pt x="2122099" y="322772"/>
                  </a:cubicBezTo>
                  <a:lnTo>
                    <a:pt x="15264" y="322772"/>
                  </a:lnTo>
                  <a:cubicBezTo>
                    <a:pt x="11216" y="322772"/>
                    <a:pt x="7333" y="321164"/>
                    <a:pt x="4471" y="318301"/>
                  </a:cubicBezTo>
                  <a:cubicBezTo>
                    <a:pt x="1608" y="315439"/>
                    <a:pt x="0" y="311556"/>
                    <a:pt x="0" y="307508"/>
                  </a:cubicBezTo>
                  <a:lnTo>
                    <a:pt x="0" y="15264"/>
                  </a:lnTo>
                  <a:cubicBezTo>
                    <a:pt x="0" y="11216"/>
                    <a:pt x="1608" y="7333"/>
                    <a:pt x="4471" y="4471"/>
                  </a:cubicBezTo>
                  <a:cubicBezTo>
                    <a:pt x="7333" y="1608"/>
                    <a:pt x="11216" y="0"/>
                    <a:pt x="15264" y="0"/>
                  </a:cubicBezTo>
                  <a:close/>
                </a:path>
              </a:pathLst>
            </a:custGeom>
            <a:solidFill>
              <a:srgbClr val="B0DF1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137363" cy="3608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0" y="6119297"/>
            <a:ext cx="8115300" cy="1225524"/>
            <a:chOff x="0" y="0"/>
            <a:chExt cx="2137363" cy="3227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37363" cy="322772"/>
            </a:xfrm>
            <a:custGeom>
              <a:avLst/>
              <a:gdLst/>
              <a:ahLst/>
              <a:cxnLst/>
              <a:rect l="l" t="t" r="r" b="b"/>
              <a:pathLst>
                <a:path w="2137363" h="322772">
                  <a:moveTo>
                    <a:pt x="15264" y="0"/>
                  </a:moveTo>
                  <a:lnTo>
                    <a:pt x="2122099" y="0"/>
                  </a:lnTo>
                  <a:cubicBezTo>
                    <a:pt x="2126147" y="0"/>
                    <a:pt x="2130030" y="1608"/>
                    <a:pt x="2132892" y="4471"/>
                  </a:cubicBezTo>
                  <a:cubicBezTo>
                    <a:pt x="2135755" y="7333"/>
                    <a:pt x="2137363" y="11216"/>
                    <a:pt x="2137363" y="15264"/>
                  </a:cubicBezTo>
                  <a:lnTo>
                    <a:pt x="2137363" y="307508"/>
                  </a:lnTo>
                  <a:cubicBezTo>
                    <a:pt x="2137363" y="311556"/>
                    <a:pt x="2135755" y="315439"/>
                    <a:pt x="2132892" y="318301"/>
                  </a:cubicBezTo>
                  <a:cubicBezTo>
                    <a:pt x="2130030" y="321164"/>
                    <a:pt x="2126147" y="322772"/>
                    <a:pt x="2122099" y="322772"/>
                  </a:cubicBezTo>
                  <a:lnTo>
                    <a:pt x="15264" y="322772"/>
                  </a:lnTo>
                  <a:cubicBezTo>
                    <a:pt x="11216" y="322772"/>
                    <a:pt x="7333" y="321164"/>
                    <a:pt x="4471" y="318301"/>
                  </a:cubicBezTo>
                  <a:cubicBezTo>
                    <a:pt x="1608" y="315439"/>
                    <a:pt x="0" y="311556"/>
                    <a:pt x="0" y="307508"/>
                  </a:cubicBezTo>
                  <a:lnTo>
                    <a:pt x="0" y="15264"/>
                  </a:lnTo>
                  <a:cubicBezTo>
                    <a:pt x="0" y="11216"/>
                    <a:pt x="1608" y="7333"/>
                    <a:pt x="4471" y="4471"/>
                  </a:cubicBezTo>
                  <a:cubicBezTo>
                    <a:pt x="7333" y="1608"/>
                    <a:pt x="11216" y="0"/>
                    <a:pt x="15264" y="0"/>
                  </a:cubicBezTo>
                  <a:close/>
                </a:path>
              </a:pathLst>
            </a:custGeom>
            <a:solidFill>
              <a:srgbClr val="B0DF1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137363" cy="3608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144000" y="7478171"/>
            <a:ext cx="8115300" cy="1225524"/>
            <a:chOff x="0" y="0"/>
            <a:chExt cx="2137363" cy="3227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37363" cy="322772"/>
            </a:xfrm>
            <a:custGeom>
              <a:avLst/>
              <a:gdLst/>
              <a:ahLst/>
              <a:cxnLst/>
              <a:rect l="l" t="t" r="r" b="b"/>
              <a:pathLst>
                <a:path w="2137363" h="322772">
                  <a:moveTo>
                    <a:pt x="15264" y="0"/>
                  </a:moveTo>
                  <a:lnTo>
                    <a:pt x="2122099" y="0"/>
                  </a:lnTo>
                  <a:cubicBezTo>
                    <a:pt x="2126147" y="0"/>
                    <a:pt x="2130030" y="1608"/>
                    <a:pt x="2132892" y="4471"/>
                  </a:cubicBezTo>
                  <a:cubicBezTo>
                    <a:pt x="2135755" y="7333"/>
                    <a:pt x="2137363" y="11216"/>
                    <a:pt x="2137363" y="15264"/>
                  </a:cubicBezTo>
                  <a:lnTo>
                    <a:pt x="2137363" y="307508"/>
                  </a:lnTo>
                  <a:cubicBezTo>
                    <a:pt x="2137363" y="311556"/>
                    <a:pt x="2135755" y="315439"/>
                    <a:pt x="2132892" y="318301"/>
                  </a:cubicBezTo>
                  <a:cubicBezTo>
                    <a:pt x="2130030" y="321164"/>
                    <a:pt x="2126147" y="322772"/>
                    <a:pt x="2122099" y="322772"/>
                  </a:cubicBezTo>
                  <a:lnTo>
                    <a:pt x="15264" y="322772"/>
                  </a:lnTo>
                  <a:cubicBezTo>
                    <a:pt x="11216" y="322772"/>
                    <a:pt x="7333" y="321164"/>
                    <a:pt x="4471" y="318301"/>
                  </a:cubicBezTo>
                  <a:cubicBezTo>
                    <a:pt x="1608" y="315439"/>
                    <a:pt x="0" y="311556"/>
                    <a:pt x="0" y="307508"/>
                  </a:cubicBezTo>
                  <a:lnTo>
                    <a:pt x="0" y="15264"/>
                  </a:lnTo>
                  <a:cubicBezTo>
                    <a:pt x="0" y="11216"/>
                    <a:pt x="1608" y="7333"/>
                    <a:pt x="4471" y="4471"/>
                  </a:cubicBezTo>
                  <a:cubicBezTo>
                    <a:pt x="7333" y="1608"/>
                    <a:pt x="11216" y="0"/>
                    <a:pt x="15264" y="0"/>
                  </a:cubicBezTo>
                  <a:close/>
                </a:path>
              </a:pathLst>
            </a:custGeom>
            <a:solidFill>
              <a:srgbClr val="B0DF1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137363" cy="3608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9453983" y="3586940"/>
            <a:ext cx="824709" cy="849419"/>
          </a:xfrm>
          <a:custGeom>
            <a:avLst/>
            <a:gdLst/>
            <a:ahLst/>
            <a:cxnLst/>
            <a:rect l="l" t="t" r="r" b="b"/>
            <a:pathLst>
              <a:path w="824709" h="849419">
                <a:moveTo>
                  <a:pt x="0" y="0"/>
                </a:moveTo>
                <a:lnTo>
                  <a:pt x="824709" y="0"/>
                </a:lnTo>
                <a:lnTo>
                  <a:pt x="824709" y="849419"/>
                </a:lnTo>
                <a:lnTo>
                  <a:pt x="0" y="8494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7" name="Freeform 17"/>
          <p:cNvSpPr/>
          <p:nvPr/>
        </p:nvSpPr>
        <p:spPr>
          <a:xfrm>
            <a:off x="9557702" y="6309797"/>
            <a:ext cx="617270" cy="844524"/>
          </a:xfrm>
          <a:custGeom>
            <a:avLst/>
            <a:gdLst/>
            <a:ahLst/>
            <a:cxnLst/>
            <a:rect l="l" t="t" r="r" b="b"/>
            <a:pathLst>
              <a:path w="617270" h="844524">
                <a:moveTo>
                  <a:pt x="0" y="0"/>
                </a:moveTo>
                <a:lnTo>
                  <a:pt x="617271" y="0"/>
                </a:lnTo>
                <a:lnTo>
                  <a:pt x="617271" y="844524"/>
                </a:lnTo>
                <a:lnTo>
                  <a:pt x="0" y="8445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8" name="Freeform 18"/>
          <p:cNvSpPr/>
          <p:nvPr/>
        </p:nvSpPr>
        <p:spPr>
          <a:xfrm>
            <a:off x="9440977" y="7687721"/>
            <a:ext cx="850721" cy="788851"/>
          </a:xfrm>
          <a:custGeom>
            <a:avLst/>
            <a:gdLst/>
            <a:ahLst/>
            <a:cxnLst/>
            <a:rect l="l" t="t" r="r" b="b"/>
            <a:pathLst>
              <a:path w="850721" h="788851">
                <a:moveTo>
                  <a:pt x="0" y="0"/>
                </a:moveTo>
                <a:lnTo>
                  <a:pt x="850721" y="0"/>
                </a:lnTo>
                <a:lnTo>
                  <a:pt x="850721" y="788850"/>
                </a:lnTo>
                <a:lnTo>
                  <a:pt x="0" y="7888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9" name="Freeform 19"/>
          <p:cNvSpPr/>
          <p:nvPr/>
        </p:nvSpPr>
        <p:spPr>
          <a:xfrm>
            <a:off x="9376894" y="5097848"/>
            <a:ext cx="978887" cy="450288"/>
          </a:xfrm>
          <a:custGeom>
            <a:avLst/>
            <a:gdLst/>
            <a:ahLst/>
            <a:cxnLst/>
            <a:rect l="l" t="t" r="r" b="b"/>
            <a:pathLst>
              <a:path w="978887" h="450288">
                <a:moveTo>
                  <a:pt x="0" y="0"/>
                </a:moveTo>
                <a:lnTo>
                  <a:pt x="978887" y="0"/>
                </a:lnTo>
                <a:lnTo>
                  <a:pt x="978887" y="450288"/>
                </a:lnTo>
                <a:lnTo>
                  <a:pt x="0" y="45028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0" name="TextBox 20"/>
          <p:cNvSpPr txBox="1"/>
          <p:nvPr/>
        </p:nvSpPr>
        <p:spPr>
          <a:xfrm>
            <a:off x="1734185" y="1168593"/>
            <a:ext cx="15525115" cy="1427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12"/>
              </a:lnSpc>
            </a:pPr>
            <a:r>
              <a:rPr lang="en-US" sz="8294" b="1" spc="-680">
                <a:solidFill>
                  <a:srgbClr val="2B2B2B"/>
                </a:solidFill>
                <a:latin typeface="Nourd Bold"/>
                <a:ea typeface="Nourd Bold"/>
                <a:cs typeface="Nourd Bold"/>
                <a:sym typeface="Nourd Bold"/>
              </a:rPr>
              <a:t>Recursos y actividades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524316" y="3522282"/>
            <a:ext cx="6436109" cy="426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7"/>
              </a:lnSpc>
            </a:pPr>
            <a:r>
              <a:rPr lang="en-US" sz="2598" b="1" dirty="0">
                <a:solidFill>
                  <a:srgbClr val="2B2B2B"/>
                </a:solidFill>
                <a:latin typeface="Nourd Bold"/>
                <a:ea typeface="Nourd Bold"/>
                <a:cs typeface="Nourd Bold"/>
                <a:sym typeface="Nourd Bold"/>
              </a:rPr>
              <a:t>Infraestructura IoT (</a:t>
            </a:r>
            <a:r>
              <a:rPr lang="en-US" sz="2400" b="1" dirty="0">
                <a:solidFill>
                  <a:srgbClr val="2B2B2B"/>
                </a:solidFill>
                <a:latin typeface="Nourd Bold"/>
                <a:ea typeface="Nourd Bold"/>
                <a:cs typeface="Nourd Bold"/>
                <a:sym typeface="Nourd Bold"/>
              </a:rPr>
              <a:t>Internet of things)</a:t>
            </a:r>
            <a:endParaRPr lang="en-US" sz="2598" b="1" dirty="0">
              <a:solidFill>
                <a:srgbClr val="2B2B2B"/>
              </a:solidFill>
              <a:latin typeface="Nourd Bold"/>
              <a:ea typeface="Nourd Bold"/>
              <a:cs typeface="Nourd Bold"/>
              <a:sym typeface="Nourd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0524316" y="4883817"/>
            <a:ext cx="6436109" cy="448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7"/>
              </a:lnSpc>
            </a:pPr>
            <a:r>
              <a:rPr lang="en-US" sz="2598" b="1">
                <a:solidFill>
                  <a:srgbClr val="2B2B2B"/>
                </a:solidFill>
                <a:latin typeface="Nourd Bold"/>
                <a:ea typeface="Nourd Bold"/>
                <a:cs typeface="Nourd Bold"/>
                <a:sym typeface="Nourd Bold"/>
              </a:rPr>
              <a:t>Sensores inteligentes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524316" y="6242691"/>
            <a:ext cx="6436109" cy="448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7"/>
              </a:lnSpc>
            </a:pPr>
            <a:r>
              <a:rPr lang="en-US" sz="2598" b="1">
                <a:solidFill>
                  <a:srgbClr val="2B2B2B"/>
                </a:solidFill>
                <a:latin typeface="Nourd Bold"/>
                <a:ea typeface="Nourd Bold"/>
                <a:cs typeface="Nourd Bold"/>
                <a:sym typeface="Nourd Bold"/>
              </a:rPr>
              <a:t>Algoritmos predictivos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524316" y="7601565"/>
            <a:ext cx="6436109" cy="448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7"/>
              </a:lnSpc>
            </a:pPr>
            <a:r>
              <a:rPr lang="en-US" sz="2598" b="1">
                <a:solidFill>
                  <a:srgbClr val="2B2B2B"/>
                </a:solidFill>
                <a:latin typeface="Nourd Bold"/>
                <a:ea typeface="Nourd Bold"/>
                <a:cs typeface="Nourd Bold"/>
                <a:sym typeface="Nourd Bold"/>
              </a:rPr>
              <a:t>Equipo técnico especializado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524316" y="3948979"/>
            <a:ext cx="6436109" cy="448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7"/>
              </a:lnSpc>
            </a:pPr>
            <a:r>
              <a:rPr lang="en-US" sz="2598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Red de monitoreo y control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524316" y="5310514"/>
            <a:ext cx="6436109" cy="448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7"/>
              </a:lnSpc>
            </a:pPr>
            <a:r>
              <a:rPr lang="en-US" sz="2598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Medición ambiental y energética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524316" y="6669388"/>
            <a:ext cx="6436109" cy="448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7"/>
              </a:lnSpc>
            </a:pPr>
            <a:r>
              <a:rPr lang="en-US" sz="2598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Análisis anticipado de fallas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524316" y="8028262"/>
            <a:ext cx="6436109" cy="448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7"/>
              </a:lnSpc>
            </a:pPr>
            <a:r>
              <a:rPr lang="en-US" sz="2598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Instalación, soporte y capacitación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7943374" cy="3942874"/>
            <a:chOff x="0" y="0"/>
            <a:chExt cx="2092082" cy="10384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92082" cy="1038452"/>
            </a:xfrm>
            <a:custGeom>
              <a:avLst/>
              <a:gdLst/>
              <a:ahLst/>
              <a:cxnLst/>
              <a:rect l="l" t="t" r="r" b="b"/>
              <a:pathLst>
                <a:path w="2092082" h="1038452">
                  <a:moveTo>
                    <a:pt x="25341" y="0"/>
                  </a:moveTo>
                  <a:lnTo>
                    <a:pt x="2066741" y="0"/>
                  </a:lnTo>
                  <a:cubicBezTo>
                    <a:pt x="2073462" y="0"/>
                    <a:pt x="2079908" y="2670"/>
                    <a:pt x="2084660" y="7422"/>
                  </a:cubicBezTo>
                  <a:cubicBezTo>
                    <a:pt x="2089412" y="12174"/>
                    <a:pt x="2092082" y="18620"/>
                    <a:pt x="2092082" y="25341"/>
                  </a:cubicBezTo>
                  <a:lnTo>
                    <a:pt x="2092082" y="1013112"/>
                  </a:lnTo>
                  <a:cubicBezTo>
                    <a:pt x="2092082" y="1019833"/>
                    <a:pt x="2089412" y="1026278"/>
                    <a:pt x="2084660" y="1031030"/>
                  </a:cubicBezTo>
                  <a:cubicBezTo>
                    <a:pt x="2079908" y="1035783"/>
                    <a:pt x="2073462" y="1038452"/>
                    <a:pt x="2066741" y="1038452"/>
                  </a:cubicBezTo>
                  <a:lnTo>
                    <a:pt x="25341" y="1038452"/>
                  </a:lnTo>
                  <a:cubicBezTo>
                    <a:pt x="18620" y="1038452"/>
                    <a:pt x="12174" y="1035783"/>
                    <a:pt x="7422" y="1031030"/>
                  </a:cubicBezTo>
                  <a:cubicBezTo>
                    <a:pt x="2670" y="1026278"/>
                    <a:pt x="0" y="1019833"/>
                    <a:pt x="0" y="1013112"/>
                  </a:cubicBezTo>
                  <a:lnTo>
                    <a:pt x="0" y="25341"/>
                  </a:lnTo>
                  <a:cubicBezTo>
                    <a:pt x="0" y="18620"/>
                    <a:pt x="2670" y="12174"/>
                    <a:pt x="7422" y="7422"/>
                  </a:cubicBezTo>
                  <a:cubicBezTo>
                    <a:pt x="12174" y="2670"/>
                    <a:pt x="18620" y="0"/>
                    <a:pt x="25341" y="0"/>
                  </a:cubicBezTo>
                  <a:close/>
                </a:path>
              </a:pathLst>
            </a:custGeom>
            <a:solidFill>
              <a:srgbClr val="B0DF1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092082" cy="10765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5315426"/>
            <a:ext cx="7943374" cy="3942874"/>
            <a:chOff x="0" y="0"/>
            <a:chExt cx="2092082" cy="103845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92082" cy="1038452"/>
            </a:xfrm>
            <a:custGeom>
              <a:avLst/>
              <a:gdLst/>
              <a:ahLst/>
              <a:cxnLst/>
              <a:rect l="l" t="t" r="r" b="b"/>
              <a:pathLst>
                <a:path w="2092082" h="1038452">
                  <a:moveTo>
                    <a:pt x="25341" y="0"/>
                  </a:moveTo>
                  <a:lnTo>
                    <a:pt x="2066741" y="0"/>
                  </a:lnTo>
                  <a:cubicBezTo>
                    <a:pt x="2073462" y="0"/>
                    <a:pt x="2079908" y="2670"/>
                    <a:pt x="2084660" y="7422"/>
                  </a:cubicBezTo>
                  <a:cubicBezTo>
                    <a:pt x="2089412" y="12174"/>
                    <a:pt x="2092082" y="18620"/>
                    <a:pt x="2092082" y="25341"/>
                  </a:cubicBezTo>
                  <a:lnTo>
                    <a:pt x="2092082" y="1013112"/>
                  </a:lnTo>
                  <a:cubicBezTo>
                    <a:pt x="2092082" y="1019833"/>
                    <a:pt x="2089412" y="1026278"/>
                    <a:pt x="2084660" y="1031030"/>
                  </a:cubicBezTo>
                  <a:cubicBezTo>
                    <a:pt x="2079908" y="1035783"/>
                    <a:pt x="2073462" y="1038452"/>
                    <a:pt x="2066741" y="1038452"/>
                  </a:cubicBezTo>
                  <a:lnTo>
                    <a:pt x="25341" y="1038452"/>
                  </a:lnTo>
                  <a:cubicBezTo>
                    <a:pt x="18620" y="1038452"/>
                    <a:pt x="12174" y="1035783"/>
                    <a:pt x="7422" y="1031030"/>
                  </a:cubicBezTo>
                  <a:cubicBezTo>
                    <a:pt x="2670" y="1026278"/>
                    <a:pt x="0" y="1019833"/>
                    <a:pt x="0" y="1013112"/>
                  </a:cubicBezTo>
                  <a:lnTo>
                    <a:pt x="0" y="25341"/>
                  </a:lnTo>
                  <a:cubicBezTo>
                    <a:pt x="0" y="18620"/>
                    <a:pt x="2670" y="12174"/>
                    <a:pt x="7422" y="7422"/>
                  </a:cubicBezTo>
                  <a:cubicBezTo>
                    <a:pt x="12174" y="2670"/>
                    <a:pt x="18620" y="0"/>
                    <a:pt x="25341" y="0"/>
                  </a:cubicBezTo>
                  <a:close/>
                </a:path>
              </a:pathLst>
            </a:custGeom>
            <a:solidFill>
              <a:srgbClr val="B0DF1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092082" cy="10765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315926" y="1028700"/>
            <a:ext cx="7943374" cy="3942874"/>
            <a:chOff x="0" y="0"/>
            <a:chExt cx="2092082" cy="103845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92082" cy="1038452"/>
            </a:xfrm>
            <a:custGeom>
              <a:avLst/>
              <a:gdLst/>
              <a:ahLst/>
              <a:cxnLst/>
              <a:rect l="l" t="t" r="r" b="b"/>
              <a:pathLst>
                <a:path w="2092082" h="1038452">
                  <a:moveTo>
                    <a:pt x="25341" y="0"/>
                  </a:moveTo>
                  <a:lnTo>
                    <a:pt x="2066741" y="0"/>
                  </a:lnTo>
                  <a:cubicBezTo>
                    <a:pt x="2073462" y="0"/>
                    <a:pt x="2079908" y="2670"/>
                    <a:pt x="2084660" y="7422"/>
                  </a:cubicBezTo>
                  <a:cubicBezTo>
                    <a:pt x="2089412" y="12174"/>
                    <a:pt x="2092082" y="18620"/>
                    <a:pt x="2092082" y="25341"/>
                  </a:cubicBezTo>
                  <a:lnTo>
                    <a:pt x="2092082" y="1013112"/>
                  </a:lnTo>
                  <a:cubicBezTo>
                    <a:pt x="2092082" y="1019833"/>
                    <a:pt x="2089412" y="1026278"/>
                    <a:pt x="2084660" y="1031030"/>
                  </a:cubicBezTo>
                  <a:cubicBezTo>
                    <a:pt x="2079908" y="1035783"/>
                    <a:pt x="2073462" y="1038452"/>
                    <a:pt x="2066741" y="1038452"/>
                  </a:cubicBezTo>
                  <a:lnTo>
                    <a:pt x="25341" y="1038452"/>
                  </a:lnTo>
                  <a:cubicBezTo>
                    <a:pt x="18620" y="1038452"/>
                    <a:pt x="12174" y="1035783"/>
                    <a:pt x="7422" y="1031030"/>
                  </a:cubicBezTo>
                  <a:cubicBezTo>
                    <a:pt x="2670" y="1026278"/>
                    <a:pt x="0" y="1019833"/>
                    <a:pt x="0" y="1013112"/>
                  </a:cubicBezTo>
                  <a:lnTo>
                    <a:pt x="0" y="25341"/>
                  </a:lnTo>
                  <a:cubicBezTo>
                    <a:pt x="0" y="18620"/>
                    <a:pt x="2670" y="12174"/>
                    <a:pt x="7422" y="7422"/>
                  </a:cubicBezTo>
                  <a:cubicBezTo>
                    <a:pt x="12174" y="2670"/>
                    <a:pt x="18620" y="0"/>
                    <a:pt x="25341" y="0"/>
                  </a:cubicBezTo>
                  <a:close/>
                </a:path>
              </a:pathLst>
            </a:custGeom>
            <a:solidFill>
              <a:srgbClr val="B0DF1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092082" cy="10765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315926" y="5315426"/>
            <a:ext cx="7943374" cy="3942874"/>
            <a:chOff x="0" y="0"/>
            <a:chExt cx="2092082" cy="103845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92082" cy="1038452"/>
            </a:xfrm>
            <a:custGeom>
              <a:avLst/>
              <a:gdLst/>
              <a:ahLst/>
              <a:cxnLst/>
              <a:rect l="l" t="t" r="r" b="b"/>
              <a:pathLst>
                <a:path w="2092082" h="1038452">
                  <a:moveTo>
                    <a:pt x="25341" y="0"/>
                  </a:moveTo>
                  <a:lnTo>
                    <a:pt x="2066741" y="0"/>
                  </a:lnTo>
                  <a:cubicBezTo>
                    <a:pt x="2073462" y="0"/>
                    <a:pt x="2079908" y="2670"/>
                    <a:pt x="2084660" y="7422"/>
                  </a:cubicBezTo>
                  <a:cubicBezTo>
                    <a:pt x="2089412" y="12174"/>
                    <a:pt x="2092082" y="18620"/>
                    <a:pt x="2092082" y="25341"/>
                  </a:cubicBezTo>
                  <a:lnTo>
                    <a:pt x="2092082" y="1013112"/>
                  </a:lnTo>
                  <a:cubicBezTo>
                    <a:pt x="2092082" y="1019833"/>
                    <a:pt x="2089412" y="1026278"/>
                    <a:pt x="2084660" y="1031030"/>
                  </a:cubicBezTo>
                  <a:cubicBezTo>
                    <a:pt x="2079908" y="1035783"/>
                    <a:pt x="2073462" y="1038452"/>
                    <a:pt x="2066741" y="1038452"/>
                  </a:cubicBezTo>
                  <a:lnTo>
                    <a:pt x="25341" y="1038452"/>
                  </a:lnTo>
                  <a:cubicBezTo>
                    <a:pt x="18620" y="1038452"/>
                    <a:pt x="12174" y="1035783"/>
                    <a:pt x="7422" y="1031030"/>
                  </a:cubicBezTo>
                  <a:cubicBezTo>
                    <a:pt x="2670" y="1026278"/>
                    <a:pt x="0" y="1019833"/>
                    <a:pt x="0" y="1013112"/>
                  </a:cubicBezTo>
                  <a:lnTo>
                    <a:pt x="0" y="25341"/>
                  </a:lnTo>
                  <a:cubicBezTo>
                    <a:pt x="0" y="18620"/>
                    <a:pt x="2670" y="12174"/>
                    <a:pt x="7422" y="7422"/>
                  </a:cubicBezTo>
                  <a:cubicBezTo>
                    <a:pt x="12174" y="2670"/>
                    <a:pt x="18620" y="0"/>
                    <a:pt x="25341" y="0"/>
                  </a:cubicBezTo>
                  <a:close/>
                </a:path>
              </a:pathLst>
            </a:custGeom>
            <a:solidFill>
              <a:srgbClr val="B0DF1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092082" cy="10765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633242" y="3632864"/>
            <a:ext cx="1543050" cy="1543050"/>
            <a:chOff x="0" y="0"/>
            <a:chExt cx="558800" cy="558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EDEDED"/>
            </a:solidFill>
            <a:ln w="66675" cap="sq">
              <a:solidFill>
                <a:srgbClr val="C2C2C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5100" y="127000"/>
              <a:ext cx="393700" cy="431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314834" y="5667211"/>
            <a:ext cx="6134640" cy="739944"/>
            <a:chOff x="0" y="0"/>
            <a:chExt cx="8179520" cy="986592"/>
          </a:xfrm>
        </p:grpSpPr>
        <p:grpSp>
          <p:nvGrpSpPr>
            <p:cNvPr id="18" name="Group 18"/>
            <p:cNvGrpSpPr/>
            <p:nvPr/>
          </p:nvGrpSpPr>
          <p:grpSpPr>
            <a:xfrm>
              <a:off x="1243" y="0"/>
              <a:ext cx="8178276" cy="986592"/>
              <a:chOff x="0" y="0"/>
              <a:chExt cx="1615462" cy="194882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615462" cy="194882"/>
              </a:xfrm>
              <a:custGeom>
                <a:avLst/>
                <a:gdLst/>
                <a:ahLst/>
                <a:cxnLst/>
                <a:rect l="l" t="t" r="r" b="b"/>
                <a:pathLst>
                  <a:path w="1615462" h="194882">
                    <a:moveTo>
                      <a:pt x="97441" y="0"/>
                    </a:moveTo>
                    <a:lnTo>
                      <a:pt x="1518021" y="0"/>
                    </a:lnTo>
                    <a:cubicBezTo>
                      <a:pt x="1571836" y="0"/>
                      <a:pt x="1615462" y="43626"/>
                      <a:pt x="1615462" y="97441"/>
                    </a:cubicBezTo>
                    <a:lnTo>
                      <a:pt x="1615462" y="97441"/>
                    </a:lnTo>
                    <a:cubicBezTo>
                      <a:pt x="1615462" y="151257"/>
                      <a:pt x="1571836" y="194882"/>
                      <a:pt x="1518021" y="194882"/>
                    </a:cubicBezTo>
                    <a:lnTo>
                      <a:pt x="97441" y="194882"/>
                    </a:lnTo>
                    <a:cubicBezTo>
                      <a:pt x="43626" y="194882"/>
                      <a:pt x="0" y="151257"/>
                      <a:pt x="0" y="97441"/>
                    </a:cubicBezTo>
                    <a:lnTo>
                      <a:pt x="0" y="97441"/>
                    </a:lnTo>
                    <a:cubicBezTo>
                      <a:pt x="0" y="43626"/>
                      <a:pt x="43626" y="0"/>
                      <a:pt x="97441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1615462" cy="23298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360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0" y="0"/>
              <a:ext cx="842258" cy="986592"/>
              <a:chOff x="0" y="0"/>
              <a:chExt cx="693891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693891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93891" h="812800">
                    <a:moveTo>
                      <a:pt x="0" y="0"/>
                    </a:moveTo>
                    <a:lnTo>
                      <a:pt x="693891" y="0"/>
                    </a:lnTo>
                    <a:lnTo>
                      <a:pt x="693891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DEDED"/>
              </a:solidFill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693891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360"/>
                  </a:lnSpc>
                </a:pPr>
                <a:endParaRPr/>
              </a:p>
            </p:txBody>
          </p:sp>
        </p:grpSp>
      </p:grpSp>
      <p:grpSp>
        <p:nvGrpSpPr>
          <p:cNvPr id="24" name="Group 24"/>
          <p:cNvGrpSpPr/>
          <p:nvPr/>
        </p:nvGrpSpPr>
        <p:grpSpPr>
          <a:xfrm rot="-10800000">
            <a:off x="9111708" y="5111086"/>
            <a:ext cx="1543050" cy="1543050"/>
            <a:chOff x="0" y="0"/>
            <a:chExt cx="558800" cy="558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EDEDED"/>
            </a:solidFill>
            <a:ln w="66675" cap="sq">
              <a:solidFill>
                <a:srgbClr val="C2C2C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5100" y="127000"/>
              <a:ext cx="393700" cy="431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 rot="5400000">
            <a:off x="9111708" y="3632864"/>
            <a:ext cx="1543050" cy="1543050"/>
            <a:chOff x="0" y="0"/>
            <a:chExt cx="558800" cy="558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EDEDED"/>
            </a:solidFill>
            <a:ln w="66675" cap="sq">
              <a:solidFill>
                <a:srgbClr val="C2C2C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65100" y="127000"/>
              <a:ext cx="393700" cy="431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 rot="-5400000">
            <a:off x="7633242" y="5111086"/>
            <a:ext cx="1543050" cy="1543050"/>
            <a:chOff x="0" y="0"/>
            <a:chExt cx="558800" cy="558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EDEDED"/>
            </a:solidFill>
            <a:ln w="66675" cap="sq">
              <a:solidFill>
                <a:srgbClr val="C2C2C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65100" y="127000"/>
              <a:ext cx="393700" cy="431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027608" y="1380485"/>
            <a:ext cx="6134640" cy="739944"/>
            <a:chOff x="0" y="0"/>
            <a:chExt cx="8179520" cy="986592"/>
          </a:xfrm>
        </p:grpSpPr>
        <p:grpSp>
          <p:nvGrpSpPr>
            <p:cNvPr id="34" name="Group 34"/>
            <p:cNvGrpSpPr/>
            <p:nvPr/>
          </p:nvGrpSpPr>
          <p:grpSpPr>
            <a:xfrm>
              <a:off x="1243" y="0"/>
              <a:ext cx="8178276" cy="986592"/>
              <a:chOff x="0" y="0"/>
              <a:chExt cx="1615462" cy="194882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615462" cy="194882"/>
              </a:xfrm>
              <a:custGeom>
                <a:avLst/>
                <a:gdLst/>
                <a:ahLst/>
                <a:cxnLst/>
                <a:rect l="l" t="t" r="r" b="b"/>
                <a:pathLst>
                  <a:path w="1615462" h="194882">
                    <a:moveTo>
                      <a:pt x="97441" y="0"/>
                    </a:moveTo>
                    <a:lnTo>
                      <a:pt x="1518021" y="0"/>
                    </a:lnTo>
                    <a:cubicBezTo>
                      <a:pt x="1571836" y="0"/>
                      <a:pt x="1615462" y="43626"/>
                      <a:pt x="1615462" y="97441"/>
                    </a:cubicBezTo>
                    <a:lnTo>
                      <a:pt x="1615462" y="97441"/>
                    </a:lnTo>
                    <a:cubicBezTo>
                      <a:pt x="1615462" y="151257"/>
                      <a:pt x="1571836" y="194882"/>
                      <a:pt x="1518021" y="194882"/>
                    </a:cubicBezTo>
                    <a:lnTo>
                      <a:pt x="97441" y="194882"/>
                    </a:lnTo>
                    <a:cubicBezTo>
                      <a:pt x="43626" y="194882"/>
                      <a:pt x="0" y="151257"/>
                      <a:pt x="0" y="97441"/>
                    </a:cubicBezTo>
                    <a:lnTo>
                      <a:pt x="0" y="97441"/>
                    </a:lnTo>
                    <a:cubicBezTo>
                      <a:pt x="0" y="43626"/>
                      <a:pt x="43626" y="0"/>
                      <a:pt x="97441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38100"/>
                <a:ext cx="1615462" cy="23298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360"/>
                  </a:lnSpc>
                </a:pPr>
                <a:endParaRPr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0" y="0"/>
              <a:ext cx="842258" cy="986592"/>
              <a:chOff x="0" y="0"/>
              <a:chExt cx="693891" cy="8128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693891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93891" h="812800">
                    <a:moveTo>
                      <a:pt x="0" y="0"/>
                    </a:moveTo>
                    <a:lnTo>
                      <a:pt x="693891" y="0"/>
                    </a:lnTo>
                    <a:lnTo>
                      <a:pt x="693891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DEDED"/>
              </a:solidFill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0" y="-38100"/>
                <a:ext cx="693891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360"/>
                  </a:lnSpc>
                </a:pPr>
                <a:endParaRPr/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1027608" y="5667211"/>
            <a:ext cx="6134640" cy="739944"/>
            <a:chOff x="0" y="0"/>
            <a:chExt cx="8179520" cy="986592"/>
          </a:xfrm>
        </p:grpSpPr>
        <p:grpSp>
          <p:nvGrpSpPr>
            <p:cNvPr id="41" name="Group 41"/>
            <p:cNvGrpSpPr/>
            <p:nvPr/>
          </p:nvGrpSpPr>
          <p:grpSpPr>
            <a:xfrm>
              <a:off x="1243" y="0"/>
              <a:ext cx="8178276" cy="986592"/>
              <a:chOff x="0" y="0"/>
              <a:chExt cx="1615462" cy="194882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1615462" cy="194882"/>
              </a:xfrm>
              <a:custGeom>
                <a:avLst/>
                <a:gdLst/>
                <a:ahLst/>
                <a:cxnLst/>
                <a:rect l="l" t="t" r="r" b="b"/>
                <a:pathLst>
                  <a:path w="1615462" h="194882">
                    <a:moveTo>
                      <a:pt x="97441" y="0"/>
                    </a:moveTo>
                    <a:lnTo>
                      <a:pt x="1518021" y="0"/>
                    </a:lnTo>
                    <a:cubicBezTo>
                      <a:pt x="1571836" y="0"/>
                      <a:pt x="1615462" y="43626"/>
                      <a:pt x="1615462" y="97441"/>
                    </a:cubicBezTo>
                    <a:lnTo>
                      <a:pt x="1615462" y="97441"/>
                    </a:lnTo>
                    <a:cubicBezTo>
                      <a:pt x="1615462" y="151257"/>
                      <a:pt x="1571836" y="194882"/>
                      <a:pt x="1518021" y="194882"/>
                    </a:cubicBezTo>
                    <a:lnTo>
                      <a:pt x="97441" y="194882"/>
                    </a:lnTo>
                    <a:cubicBezTo>
                      <a:pt x="43626" y="194882"/>
                      <a:pt x="0" y="151257"/>
                      <a:pt x="0" y="97441"/>
                    </a:cubicBezTo>
                    <a:lnTo>
                      <a:pt x="0" y="97441"/>
                    </a:lnTo>
                    <a:cubicBezTo>
                      <a:pt x="0" y="43626"/>
                      <a:pt x="43626" y="0"/>
                      <a:pt x="97441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0" y="-38100"/>
                <a:ext cx="1615462" cy="23298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360"/>
                  </a:lnSpc>
                </a:pPr>
                <a:endParaRPr/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0" y="0"/>
              <a:ext cx="842258" cy="986592"/>
              <a:chOff x="0" y="0"/>
              <a:chExt cx="693891" cy="8128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693891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93891" h="812800">
                    <a:moveTo>
                      <a:pt x="0" y="0"/>
                    </a:moveTo>
                    <a:lnTo>
                      <a:pt x="693891" y="0"/>
                    </a:lnTo>
                    <a:lnTo>
                      <a:pt x="693891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DEDED"/>
              </a:solidFill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0" y="-38100"/>
                <a:ext cx="693891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360"/>
                  </a:lnSpc>
                </a:pPr>
                <a:endParaRPr/>
              </a:p>
            </p:txBody>
          </p:sp>
        </p:grpSp>
      </p:grpSp>
      <p:grpSp>
        <p:nvGrpSpPr>
          <p:cNvPr id="47" name="Group 47"/>
          <p:cNvGrpSpPr/>
          <p:nvPr/>
        </p:nvGrpSpPr>
        <p:grpSpPr>
          <a:xfrm>
            <a:off x="9314834" y="1380485"/>
            <a:ext cx="6134640" cy="739944"/>
            <a:chOff x="0" y="0"/>
            <a:chExt cx="8179520" cy="986592"/>
          </a:xfrm>
        </p:grpSpPr>
        <p:grpSp>
          <p:nvGrpSpPr>
            <p:cNvPr id="48" name="Group 48"/>
            <p:cNvGrpSpPr/>
            <p:nvPr/>
          </p:nvGrpSpPr>
          <p:grpSpPr>
            <a:xfrm>
              <a:off x="1243" y="0"/>
              <a:ext cx="8178276" cy="986592"/>
              <a:chOff x="0" y="0"/>
              <a:chExt cx="1615462" cy="194882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1615462" cy="194882"/>
              </a:xfrm>
              <a:custGeom>
                <a:avLst/>
                <a:gdLst/>
                <a:ahLst/>
                <a:cxnLst/>
                <a:rect l="l" t="t" r="r" b="b"/>
                <a:pathLst>
                  <a:path w="1615462" h="194882">
                    <a:moveTo>
                      <a:pt x="97441" y="0"/>
                    </a:moveTo>
                    <a:lnTo>
                      <a:pt x="1518021" y="0"/>
                    </a:lnTo>
                    <a:cubicBezTo>
                      <a:pt x="1571836" y="0"/>
                      <a:pt x="1615462" y="43626"/>
                      <a:pt x="1615462" y="97441"/>
                    </a:cubicBezTo>
                    <a:lnTo>
                      <a:pt x="1615462" y="97441"/>
                    </a:lnTo>
                    <a:cubicBezTo>
                      <a:pt x="1615462" y="151257"/>
                      <a:pt x="1571836" y="194882"/>
                      <a:pt x="1518021" y="194882"/>
                    </a:cubicBezTo>
                    <a:lnTo>
                      <a:pt x="97441" y="194882"/>
                    </a:lnTo>
                    <a:cubicBezTo>
                      <a:pt x="43626" y="194882"/>
                      <a:pt x="0" y="151257"/>
                      <a:pt x="0" y="97441"/>
                    </a:cubicBezTo>
                    <a:lnTo>
                      <a:pt x="0" y="97441"/>
                    </a:lnTo>
                    <a:cubicBezTo>
                      <a:pt x="0" y="43626"/>
                      <a:pt x="43626" y="0"/>
                      <a:pt x="97441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0" y="-38100"/>
                <a:ext cx="1615462" cy="23298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360"/>
                  </a:lnSpc>
                </a:pPr>
                <a:endParaRPr/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0" y="0"/>
              <a:ext cx="842258" cy="986592"/>
              <a:chOff x="0" y="0"/>
              <a:chExt cx="693891" cy="8128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693891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93891" h="812800">
                    <a:moveTo>
                      <a:pt x="0" y="0"/>
                    </a:moveTo>
                    <a:lnTo>
                      <a:pt x="693891" y="0"/>
                    </a:lnTo>
                    <a:lnTo>
                      <a:pt x="693891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DEDED"/>
              </a:solidFill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0" y="-38100"/>
                <a:ext cx="693891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360"/>
                  </a:lnSpc>
                </a:pPr>
                <a:endParaRPr/>
              </a:p>
            </p:txBody>
          </p:sp>
        </p:grpSp>
      </p:grpSp>
      <p:sp>
        <p:nvSpPr>
          <p:cNvPr id="54" name="TextBox 54"/>
          <p:cNvSpPr txBox="1"/>
          <p:nvPr/>
        </p:nvSpPr>
        <p:spPr>
          <a:xfrm>
            <a:off x="8213515" y="3992728"/>
            <a:ext cx="758559" cy="104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533"/>
              </a:lnSpc>
            </a:pPr>
            <a:r>
              <a:rPr lang="en-US" sz="6095" b="1" spc="-420">
                <a:solidFill>
                  <a:srgbClr val="2B2B2B"/>
                </a:solidFill>
                <a:latin typeface="Nourd Bold"/>
                <a:ea typeface="Nourd Bold"/>
                <a:cs typeface="Nourd Bold"/>
                <a:sym typeface="Nourd Bold"/>
              </a:rPr>
              <a:t>F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397580" y="1380817"/>
            <a:ext cx="7205614" cy="663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56"/>
              </a:lnSpc>
            </a:pPr>
            <a:r>
              <a:rPr lang="en-US" sz="3897" b="1" spc="-268">
                <a:solidFill>
                  <a:srgbClr val="2B2B2B"/>
                </a:solidFill>
                <a:latin typeface="Nourd Bold"/>
                <a:ea typeface="Nourd Bold"/>
                <a:cs typeface="Nourd Bold"/>
                <a:sym typeface="Nourd Bold"/>
              </a:rPr>
              <a:t>FORTALEZA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397580" y="5667543"/>
            <a:ext cx="7205614" cy="663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56"/>
              </a:lnSpc>
            </a:pPr>
            <a:r>
              <a:rPr lang="en-US" sz="3897" b="1" spc="-268">
                <a:solidFill>
                  <a:srgbClr val="2B2B2B"/>
                </a:solidFill>
                <a:latin typeface="Nourd Bold"/>
                <a:ea typeface="Nourd Bold"/>
                <a:cs typeface="Nourd Bold"/>
                <a:sym typeface="Nourd Bold"/>
              </a:rPr>
              <a:t>DEBILIDAD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684806" y="1380817"/>
            <a:ext cx="7205614" cy="663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56"/>
              </a:lnSpc>
            </a:pPr>
            <a:r>
              <a:rPr lang="en-US" sz="3897" b="1" spc="-268">
                <a:solidFill>
                  <a:srgbClr val="2B2B2B"/>
                </a:solidFill>
                <a:latin typeface="Nourd Bold"/>
                <a:ea typeface="Nourd Bold"/>
                <a:cs typeface="Nourd Bold"/>
                <a:sym typeface="Nourd Bold"/>
              </a:rPr>
              <a:t>OPORTUNIDAD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0692476" y="5688335"/>
            <a:ext cx="6235663" cy="663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56"/>
              </a:lnSpc>
            </a:pPr>
            <a:r>
              <a:rPr lang="en-US" sz="3897" b="1" spc="-268" dirty="0">
                <a:solidFill>
                  <a:srgbClr val="2B2B2B"/>
                </a:solidFill>
                <a:latin typeface="Nourd Bold"/>
                <a:ea typeface="Nourd Bold"/>
                <a:cs typeface="Nourd Bold"/>
                <a:sym typeface="Nourd Bold"/>
              </a:rPr>
              <a:t>AMENAZA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8213515" y="5113938"/>
            <a:ext cx="758559" cy="104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533"/>
              </a:lnSpc>
            </a:pPr>
            <a:r>
              <a:rPr lang="en-US" sz="6095" b="1" spc="-420">
                <a:solidFill>
                  <a:srgbClr val="2B2B2B"/>
                </a:solidFill>
                <a:latin typeface="Nourd Bold"/>
                <a:ea typeface="Nourd Bold"/>
                <a:cs typeface="Nourd Bold"/>
                <a:sym typeface="Nourd Bold"/>
              </a:rPr>
              <a:t>D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9277116" y="3992728"/>
            <a:ext cx="758559" cy="104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533"/>
              </a:lnSpc>
            </a:pPr>
            <a:r>
              <a:rPr lang="en-US" sz="6095" b="1" spc="-420" dirty="0">
                <a:solidFill>
                  <a:srgbClr val="2B2B2B"/>
                </a:solidFill>
                <a:latin typeface="Nourd Bold"/>
                <a:ea typeface="Nourd Bold"/>
                <a:cs typeface="Nourd Bold"/>
                <a:sym typeface="Nourd Bold"/>
              </a:rPr>
              <a:t>O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277116" y="5113938"/>
            <a:ext cx="758559" cy="104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533"/>
              </a:lnSpc>
            </a:pPr>
            <a:r>
              <a:rPr lang="en-US" sz="6095" b="1" spc="-420">
                <a:solidFill>
                  <a:srgbClr val="2B2B2B"/>
                </a:solidFill>
                <a:latin typeface="Nourd Bold"/>
                <a:ea typeface="Nourd Bold"/>
                <a:cs typeface="Nourd Bold"/>
                <a:sym typeface="Nourd Bold"/>
              </a:rPr>
              <a:t>A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397580" y="2424498"/>
            <a:ext cx="6815935" cy="1192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7"/>
              </a:lnSpc>
            </a:pP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Adaptación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al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clima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cálido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y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húmedo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de la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Amazonía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, con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climatización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solar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diseñada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para las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condiciones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de Riberalta.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397580" y="6711224"/>
            <a:ext cx="7195215" cy="1192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7"/>
              </a:lnSpc>
            </a:pP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Alta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inversión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inicial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para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instalar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paneles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,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baterías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,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sensores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y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sistemas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de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monitoreo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en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las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granjas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.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9722525" y="2325217"/>
            <a:ext cx="7205614" cy="1192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7"/>
              </a:lnSpc>
            </a:pP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Acceso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potencial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a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fondos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de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cooperación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verde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y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programas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de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energía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limpia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para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comunidades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aisladas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.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9946528" y="6819922"/>
            <a:ext cx="7205614" cy="1192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7"/>
              </a:lnSpc>
            </a:pP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Logística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compleja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y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conectividad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limitada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pueden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dificultar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el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transporte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,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el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soporte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técnico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y la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transmisión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de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datos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1775" y="1469233"/>
            <a:ext cx="647296" cy="938580"/>
          </a:xfrm>
          <a:custGeom>
            <a:avLst/>
            <a:gdLst/>
            <a:ahLst/>
            <a:cxnLst/>
            <a:rect l="l" t="t" r="r" b="b"/>
            <a:pathLst>
              <a:path w="647296" h="938580">
                <a:moveTo>
                  <a:pt x="0" y="0"/>
                </a:moveTo>
                <a:lnTo>
                  <a:pt x="647296" y="0"/>
                </a:lnTo>
                <a:lnTo>
                  <a:pt x="647296" y="938580"/>
                </a:lnTo>
                <a:lnTo>
                  <a:pt x="0" y="9385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Freeform 3"/>
          <p:cNvSpPr/>
          <p:nvPr/>
        </p:nvSpPr>
        <p:spPr>
          <a:xfrm>
            <a:off x="911775" y="3931591"/>
            <a:ext cx="8467311" cy="5326709"/>
          </a:xfrm>
          <a:custGeom>
            <a:avLst/>
            <a:gdLst/>
            <a:ahLst/>
            <a:cxnLst/>
            <a:rect l="l" t="t" r="r" b="b"/>
            <a:pathLst>
              <a:path w="8467311" h="5326709">
                <a:moveTo>
                  <a:pt x="0" y="0"/>
                </a:moveTo>
                <a:lnTo>
                  <a:pt x="8467311" y="0"/>
                </a:lnTo>
                <a:lnTo>
                  <a:pt x="8467311" y="5326709"/>
                </a:lnTo>
                <a:lnTo>
                  <a:pt x="0" y="53267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4" name="Group 4"/>
          <p:cNvGrpSpPr/>
          <p:nvPr/>
        </p:nvGrpSpPr>
        <p:grpSpPr>
          <a:xfrm>
            <a:off x="10332651" y="6265657"/>
            <a:ext cx="6926649" cy="2570111"/>
            <a:chOff x="0" y="0"/>
            <a:chExt cx="1824303" cy="67690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24303" cy="676902"/>
            </a:xfrm>
            <a:custGeom>
              <a:avLst/>
              <a:gdLst/>
              <a:ahLst/>
              <a:cxnLst/>
              <a:rect l="l" t="t" r="r" b="b"/>
              <a:pathLst>
                <a:path w="1824303" h="676902">
                  <a:moveTo>
                    <a:pt x="29060" y="0"/>
                  </a:moveTo>
                  <a:lnTo>
                    <a:pt x="1795242" y="0"/>
                  </a:lnTo>
                  <a:cubicBezTo>
                    <a:pt x="1811292" y="0"/>
                    <a:pt x="1824303" y="13011"/>
                    <a:pt x="1824303" y="29060"/>
                  </a:cubicBezTo>
                  <a:lnTo>
                    <a:pt x="1824303" y="647841"/>
                  </a:lnTo>
                  <a:cubicBezTo>
                    <a:pt x="1824303" y="663891"/>
                    <a:pt x="1811292" y="676902"/>
                    <a:pt x="1795242" y="676902"/>
                  </a:cubicBezTo>
                  <a:lnTo>
                    <a:pt x="29060" y="676902"/>
                  </a:lnTo>
                  <a:cubicBezTo>
                    <a:pt x="13011" y="676902"/>
                    <a:pt x="0" y="663891"/>
                    <a:pt x="0" y="647841"/>
                  </a:cubicBezTo>
                  <a:lnTo>
                    <a:pt x="0" y="29060"/>
                  </a:lnTo>
                  <a:cubicBezTo>
                    <a:pt x="0" y="13011"/>
                    <a:pt x="13011" y="0"/>
                    <a:pt x="29060" y="0"/>
                  </a:cubicBezTo>
                  <a:close/>
                </a:path>
              </a:pathLst>
            </a:custGeom>
            <a:solidFill>
              <a:srgbClr val="B0DF1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824303" cy="7150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</a:pPr>
              <a:endParaRPr sz="2400"/>
            </a:p>
          </p:txBody>
        </p:sp>
      </p:grpSp>
      <p:sp>
        <p:nvSpPr>
          <p:cNvPr id="7" name="Freeform 7"/>
          <p:cNvSpPr/>
          <p:nvPr/>
        </p:nvSpPr>
        <p:spPr>
          <a:xfrm>
            <a:off x="10634279" y="6847986"/>
            <a:ext cx="1365380" cy="1390665"/>
          </a:xfrm>
          <a:custGeom>
            <a:avLst/>
            <a:gdLst/>
            <a:ahLst/>
            <a:cxnLst/>
            <a:rect l="l" t="t" r="r" b="b"/>
            <a:pathLst>
              <a:path w="1365380" h="1390665">
                <a:moveTo>
                  <a:pt x="0" y="0"/>
                </a:moveTo>
                <a:lnTo>
                  <a:pt x="1365380" y="0"/>
                </a:lnTo>
                <a:lnTo>
                  <a:pt x="1365380" y="1390665"/>
                </a:lnTo>
                <a:lnTo>
                  <a:pt x="0" y="13906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8" name="TextBox 8"/>
          <p:cNvSpPr txBox="1"/>
          <p:nvPr/>
        </p:nvSpPr>
        <p:spPr>
          <a:xfrm>
            <a:off x="1734185" y="1168593"/>
            <a:ext cx="15525115" cy="1427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12"/>
              </a:lnSpc>
            </a:pPr>
            <a:r>
              <a:rPr lang="en-US" sz="8294" b="1" spc="-680">
                <a:solidFill>
                  <a:srgbClr val="2B2B2B"/>
                </a:solidFill>
                <a:latin typeface="Nourd Bold"/>
                <a:ea typeface="Nourd Bold"/>
                <a:cs typeface="Nourd Bold"/>
                <a:sym typeface="Nourd Bold"/>
              </a:rPr>
              <a:t>Monitoreo IoT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332651" y="3084733"/>
            <a:ext cx="6926649" cy="2070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60"/>
              </a:lnSpc>
            </a:pPr>
            <a:r>
              <a:rPr lang="en-US" sz="32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Medimos</a:t>
            </a:r>
            <a:r>
              <a:rPr lang="en-US" sz="32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32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en</a:t>
            </a:r>
            <a:r>
              <a:rPr lang="en-US" sz="32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32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tiempo</a:t>
            </a:r>
            <a:r>
              <a:rPr lang="en-US" sz="32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real la </a:t>
            </a:r>
            <a:r>
              <a:rPr lang="en-US" sz="32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eficiencia</a:t>
            </a:r>
            <a:r>
              <a:rPr lang="en-US" sz="32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32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térmica</a:t>
            </a:r>
            <a:r>
              <a:rPr lang="en-US" sz="32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de </a:t>
            </a:r>
            <a:r>
              <a:rPr lang="en-US" sz="32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los</a:t>
            </a:r>
            <a:r>
              <a:rPr lang="en-US" sz="32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32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galpones</a:t>
            </a:r>
            <a:r>
              <a:rPr lang="en-US" sz="32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y </a:t>
            </a:r>
            <a:r>
              <a:rPr lang="en-US" sz="32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el</a:t>
            </a:r>
            <a:r>
              <a:rPr lang="en-US" sz="32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32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estado</a:t>
            </a:r>
            <a:r>
              <a:rPr lang="en-US" sz="32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de las </a:t>
            </a:r>
            <a:r>
              <a:rPr lang="en-US" sz="32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baterías</a:t>
            </a:r>
            <a:r>
              <a:rPr lang="en-US" sz="32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para </a:t>
            </a:r>
            <a:r>
              <a:rPr lang="en-US" sz="32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mantener</a:t>
            </a:r>
            <a:r>
              <a:rPr lang="en-US" sz="32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32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condiciones</a:t>
            </a:r>
            <a:r>
              <a:rPr lang="en-US" sz="32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32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estables</a:t>
            </a:r>
            <a:r>
              <a:rPr lang="en-US" sz="32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32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durante</a:t>
            </a:r>
            <a:r>
              <a:rPr lang="en-US" sz="32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la </a:t>
            </a:r>
            <a:r>
              <a:rPr lang="en-US" sz="32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incubación</a:t>
            </a:r>
            <a:r>
              <a:rPr lang="en-US" sz="32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201546" y="6547321"/>
            <a:ext cx="4748980" cy="1962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</a:pPr>
            <a:r>
              <a:rPr lang="en-US" sz="24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Sensores</a:t>
            </a:r>
            <a:r>
              <a:rPr lang="en-US" sz="24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24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conectados</a:t>
            </a:r>
            <a:r>
              <a:rPr lang="en-US" sz="24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24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reportan</a:t>
            </a:r>
            <a:r>
              <a:rPr lang="en-US" sz="24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24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el</a:t>
            </a:r>
            <a:r>
              <a:rPr lang="en-US" sz="24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24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SoH</a:t>
            </a:r>
            <a:r>
              <a:rPr lang="en-US" sz="24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y SoC de las </a:t>
            </a:r>
            <a:r>
              <a:rPr lang="en-US" sz="24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baterías</a:t>
            </a:r>
            <a:r>
              <a:rPr lang="en-US" sz="24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, </a:t>
            </a:r>
            <a:r>
              <a:rPr lang="en-US" sz="24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anticipan</a:t>
            </a:r>
            <a:r>
              <a:rPr lang="en-US" sz="24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24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fallas</a:t>
            </a:r>
            <a:r>
              <a:rPr lang="en-US" sz="24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y </a:t>
            </a:r>
            <a:r>
              <a:rPr lang="en-US" sz="24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activan</a:t>
            </a:r>
            <a:r>
              <a:rPr lang="en-US" sz="24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24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alertas</a:t>
            </a:r>
            <a:r>
              <a:rPr lang="en-US" sz="24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para </a:t>
            </a:r>
            <a:r>
              <a:rPr lang="en-US" sz="24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proteger</a:t>
            </a:r>
            <a:r>
              <a:rPr lang="en-US" sz="24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la </a:t>
            </a:r>
            <a:r>
              <a:rPr lang="en-US" sz="24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producción</a:t>
            </a:r>
            <a:r>
              <a:rPr lang="en-US" sz="24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24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avícola</a:t>
            </a:r>
            <a:r>
              <a:rPr lang="en-US" sz="24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96200" y="1388970"/>
            <a:ext cx="9734170" cy="6631403"/>
          </a:xfrm>
          <a:custGeom>
            <a:avLst/>
            <a:gdLst/>
            <a:ahLst/>
            <a:cxnLst/>
            <a:rect l="l" t="t" r="r" b="b"/>
            <a:pathLst>
              <a:path w="9734170" h="6631403">
                <a:moveTo>
                  <a:pt x="0" y="0"/>
                </a:moveTo>
                <a:lnTo>
                  <a:pt x="9734170" y="0"/>
                </a:lnTo>
                <a:lnTo>
                  <a:pt x="9734170" y="6631403"/>
                </a:lnTo>
                <a:lnTo>
                  <a:pt x="0" y="66314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TextBox 3"/>
          <p:cNvSpPr txBox="1"/>
          <p:nvPr/>
        </p:nvSpPr>
        <p:spPr>
          <a:xfrm>
            <a:off x="1740276" y="982704"/>
            <a:ext cx="7271896" cy="152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497"/>
              </a:lnSpc>
            </a:pPr>
            <a:r>
              <a:rPr lang="en-US" sz="9257" b="1" spc="-759" dirty="0">
                <a:solidFill>
                  <a:srgbClr val="2B2B2B"/>
                </a:solidFill>
                <a:latin typeface="Nourd Bold"/>
                <a:ea typeface="Nourd Bold"/>
                <a:cs typeface="Nourd Bold"/>
                <a:sym typeface="Nourd Bold"/>
              </a:rPr>
              <a:t>Solar Chicken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774912" y="6648264"/>
            <a:ext cx="4354325" cy="621658"/>
            <a:chOff x="0" y="0"/>
            <a:chExt cx="1555930" cy="22213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55930" cy="222137"/>
            </a:xfrm>
            <a:custGeom>
              <a:avLst/>
              <a:gdLst/>
              <a:ahLst/>
              <a:cxnLst/>
              <a:rect l="l" t="t" r="r" b="b"/>
              <a:pathLst>
                <a:path w="1555930" h="222137">
                  <a:moveTo>
                    <a:pt x="0" y="0"/>
                  </a:moveTo>
                  <a:lnTo>
                    <a:pt x="1555930" y="0"/>
                  </a:lnTo>
                  <a:lnTo>
                    <a:pt x="1555930" y="222137"/>
                  </a:lnTo>
                  <a:lnTo>
                    <a:pt x="0" y="222137"/>
                  </a:lnTo>
                  <a:close/>
                </a:path>
              </a:pathLst>
            </a:custGeom>
            <a:solidFill>
              <a:srgbClr val="B0DF1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555930" cy="2602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74912" y="5895852"/>
            <a:ext cx="4354325" cy="621658"/>
            <a:chOff x="0" y="0"/>
            <a:chExt cx="1555930" cy="22213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55930" cy="222137"/>
            </a:xfrm>
            <a:custGeom>
              <a:avLst/>
              <a:gdLst/>
              <a:ahLst/>
              <a:cxnLst/>
              <a:rect l="l" t="t" r="r" b="b"/>
              <a:pathLst>
                <a:path w="1555930" h="222137">
                  <a:moveTo>
                    <a:pt x="0" y="0"/>
                  </a:moveTo>
                  <a:lnTo>
                    <a:pt x="1555930" y="0"/>
                  </a:lnTo>
                  <a:lnTo>
                    <a:pt x="1555930" y="222137"/>
                  </a:lnTo>
                  <a:lnTo>
                    <a:pt x="0" y="222137"/>
                  </a:lnTo>
                  <a:close/>
                </a:path>
              </a:pathLst>
            </a:custGeom>
            <a:solidFill>
              <a:srgbClr val="B0DF1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555930" cy="2602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74912" y="7398715"/>
            <a:ext cx="4354325" cy="621658"/>
            <a:chOff x="0" y="0"/>
            <a:chExt cx="1555930" cy="22213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55930" cy="222137"/>
            </a:xfrm>
            <a:custGeom>
              <a:avLst/>
              <a:gdLst/>
              <a:ahLst/>
              <a:cxnLst/>
              <a:rect l="l" t="t" r="r" b="b"/>
              <a:pathLst>
                <a:path w="1555930" h="222137">
                  <a:moveTo>
                    <a:pt x="0" y="0"/>
                  </a:moveTo>
                  <a:lnTo>
                    <a:pt x="1555930" y="0"/>
                  </a:lnTo>
                  <a:lnTo>
                    <a:pt x="1555930" y="222137"/>
                  </a:lnTo>
                  <a:lnTo>
                    <a:pt x="0" y="222137"/>
                  </a:lnTo>
                  <a:close/>
                </a:path>
              </a:pathLst>
            </a:custGeom>
            <a:solidFill>
              <a:srgbClr val="B0DF1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555930" cy="2602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921769" y="6681597"/>
            <a:ext cx="4060613" cy="399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07"/>
              </a:lnSpc>
            </a:pPr>
            <a:r>
              <a:rPr lang="en-US" sz="2290" b="1" spc="-158">
                <a:solidFill>
                  <a:srgbClr val="2B2B2B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Riberalta, Bolivia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21769" y="5929186"/>
            <a:ext cx="4060613" cy="399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07"/>
              </a:lnSpc>
            </a:pPr>
            <a:r>
              <a:rPr lang="en-US" sz="2290" b="1" spc="-158">
                <a:solidFill>
                  <a:srgbClr val="2B2B2B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Guillermo Arce y Omar Colque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21769" y="7432048"/>
            <a:ext cx="4060613" cy="399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07"/>
              </a:lnSpc>
            </a:pPr>
            <a:r>
              <a:rPr lang="en-US" sz="2290" b="1" spc="-158">
                <a:solidFill>
                  <a:srgbClr val="2B2B2B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Producción avícola sostenible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90385" y="4065860"/>
            <a:ext cx="6005815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207"/>
              </a:lnSpc>
            </a:pP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Lanzamiento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del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proyecto</a:t>
            </a:r>
            <a:endParaRPr lang="en-US" sz="2800" dirty="0">
              <a:solidFill>
                <a:srgbClr val="2B2B2B"/>
              </a:solidFill>
              <a:latin typeface="Nourd Light"/>
              <a:ea typeface="Nourd Light"/>
              <a:cs typeface="Nourd Light"/>
              <a:sym typeface="Nourd Light"/>
            </a:endParaRPr>
          </a:p>
          <a:p>
            <a:pPr marL="0" lvl="0" indent="0" algn="l">
              <a:lnSpc>
                <a:spcPts val="3207"/>
              </a:lnSpc>
            </a:pP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Inteligencia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energética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y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avicultura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sostenible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</a:t>
            </a:r>
            <a:r>
              <a:rPr lang="en-US" sz="2800" dirty="0" err="1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en</a:t>
            </a:r>
            <a:r>
              <a:rPr lang="en-US" sz="2800" dirty="0">
                <a:solidFill>
                  <a:srgbClr val="2B2B2B"/>
                </a:solidFill>
                <a:latin typeface="Nourd Light"/>
                <a:ea typeface="Nourd Light"/>
                <a:cs typeface="Nourd Light"/>
                <a:sym typeface="Nourd Light"/>
              </a:rPr>
              <a:t> Riberalta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B65BF4-7099-9E89-5A7D-C2D70EE49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82306E9-1BAD-9435-84A1-F45F1C2B5E1F}"/>
              </a:ext>
            </a:extLst>
          </p:cNvPr>
          <p:cNvSpPr/>
          <p:nvPr/>
        </p:nvSpPr>
        <p:spPr>
          <a:xfrm>
            <a:off x="3544205" y="3236497"/>
            <a:ext cx="11463250" cy="7162800"/>
          </a:xfrm>
          <a:custGeom>
            <a:avLst/>
            <a:gdLst/>
            <a:ahLst/>
            <a:cxnLst/>
            <a:rect l="l" t="t" r="r" b="b"/>
            <a:pathLst>
              <a:path w="9734170" h="6631403">
                <a:moveTo>
                  <a:pt x="0" y="0"/>
                </a:moveTo>
                <a:lnTo>
                  <a:pt x="9734170" y="0"/>
                </a:lnTo>
                <a:lnTo>
                  <a:pt x="9734170" y="6631403"/>
                </a:lnTo>
                <a:lnTo>
                  <a:pt x="0" y="66314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5F7376C-BED5-70D9-E1AD-FCCCD6BED14E}"/>
              </a:ext>
            </a:extLst>
          </p:cNvPr>
          <p:cNvSpPr txBox="1"/>
          <p:nvPr/>
        </p:nvSpPr>
        <p:spPr>
          <a:xfrm>
            <a:off x="1519548" y="419100"/>
            <a:ext cx="7624451" cy="32060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2497"/>
              </a:lnSpc>
            </a:pPr>
            <a:r>
              <a:rPr lang="en-US" sz="9257" b="1" spc="-759" dirty="0">
                <a:solidFill>
                  <a:srgbClr val="2B2B2B"/>
                </a:solidFill>
                <a:latin typeface="Nourd Bold"/>
                <a:ea typeface="Nourd Bold"/>
                <a:cs typeface="Nourd Bold"/>
                <a:sym typeface="Nourd Bold"/>
              </a:rPr>
              <a:t>Solar </a:t>
            </a:r>
            <a:r>
              <a:rPr lang="en-US" sz="9257" b="1" spc="-759" dirty="0" err="1">
                <a:solidFill>
                  <a:srgbClr val="2B2B2B"/>
                </a:solidFill>
                <a:latin typeface="Nourd Bold"/>
                <a:ea typeface="Nourd Bold"/>
                <a:cs typeface="Nourd Bold"/>
                <a:sym typeface="Nourd Bold"/>
              </a:rPr>
              <a:t>chiken</a:t>
            </a:r>
            <a:r>
              <a:rPr lang="en-US" sz="9257" b="1" spc="-759" dirty="0">
                <a:solidFill>
                  <a:srgbClr val="2B2B2B"/>
                </a:solidFill>
                <a:latin typeface="Nourd Bold"/>
                <a:ea typeface="Nourd Bold"/>
                <a:cs typeface="Nourd Bold"/>
                <a:sym typeface="Nourd Bold"/>
              </a:rPr>
              <a:t> Dice </a:t>
            </a:r>
            <a:r>
              <a:rPr lang="en-US" sz="11500" b="1" spc="-759" dirty="0">
                <a:solidFill>
                  <a:srgbClr val="2B2B2B"/>
                </a:solidFill>
                <a:latin typeface="Nourd Bold"/>
                <a:ea typeface="Nourd Bold"/>
                <a:cs typeface="Nourd Bold"/>
                <a:sym typeface="Nourd Bold"/>
              </a:rPr>
              <a:t>Gracias</a:t>
            </a:r>
            <a:r>
              <a:rPr lang="en-US" sz="9257" b="1" spc="-759" dirty="0">
                <a:solidFill>
                  <a:srgbClr val="2B2B2B"/>
                </a:solidFill>
                <a:latin typeface="Nourd Bold"/>
                <a:ea typeface="Nourd Bold"/>
                <a:cs typeface="Nourd Bold"/>
                <a:sym typeface="Nourd Bold"/>
              </a:rPr>
              <a:t> </a:t>
            </a: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27135061-A38A-5C8D-CAFB-F90F17539591}"/>
              </a:ext>
            </a:extLst>
          </p:cNvPr>
          <p:cNvGrpSpPr/>
          <p:nvPr/>
        </p:nvGrpSpPr>
        <p:grpSpPr>
          <a:xfrm>
            <a:off x="12643816" y="982704"/>
            <a:ext cx="4354325" cy="621658"/>
            <a:chOff x="0" y="0"/>
            <a:chExt cx="1555930" cy="22213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9C05F32-5076-13C3-97C7-B8A0EC22078D}"/>
                </a:ext>
              </a:extLst>
            </p:cNvPr>
            <p:cNvSpPr/>
            <p:nvPr/>
          </p:nvSpPr>
          <p:spPr>
            <a:xfrm>
              <a:off x="0" y="0"/>
              <a:ext cx="1555930" cy="222137"/>
            </a:xfrm>
            <a:custGeom>
              <a:avLst/>
              <a:gdLst/>
              <a:ahLst/>
              <a:cxnLst/>
              <a:rect l="l" t="t" r="r" b="b"/>
              <a:pathLst>
                <a:path w="1555930" h="222137">
                  <a:moveTo>
                    <a:pt x="0" y="0"/>
                  </a:moveTo>
                  <a:lnTo>
                    <a:pt x="1555930" y="0"/>
                  </a:lnTo>
                  <a:lnTo>
                    <a:pt x="1555930" y="222137"/>
                  </a:lnTo>
                  <a:lnTo>
                    <a:pt x="0" y="222137"/>
                  </a:lnTo>
                  <a:close/>
                </a:path>
              </a:pathLst>
            </a:custGeom>
            <a:solidFill>
              <a:srgbClr val="B0DF1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DE5529A5-767D-4116-319A-0778ED0645AE}"/>
                </a:ext>
              </a:extLst>
            </p:cNvPr>
            <p:cNvSpPr txBox="1"/>
            <p:nvPr/>
          </p:nvSpPr>
          <p:spPr>
            <a:xfrm>
              <a:off x="0" y="-38100"/>
              <a:ext cx="1555930" cy="2602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>
            <a:extLst>
              <a:ext uri="{FF2B5EF4-FFF2-40B4-BE49-F238E27FC236}">
                <a16:creationId xmlns:a16="http://schemas.microsoft.com/office/drawing/2014/main" id="{D38C57DD-A49D-4473-D9DD-6C26A04E567D}"/>
              </a:ext>
            </a:extLst>
          </p:cNvPr>
          <p:cNvSpPr txBox="1"/>
          <p:nvPr/>
        </p:nvSpPr>
        <p:spPr>
          <a:xfrm>
            <a:off x="12790671" y="1094026"/>
            <a:ext cx="4060613" cy="399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07"/>
              </a:lnSpc>
            </a:pPr>
            <a:r>
              <a:rPr lang="en-US" sz="2290" b="1" spc="-158" dirty="0">
                <a:solidFill>
                  <a:srgbClr val="2B2B2B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Guillermo Arce y Omar Colque</a:t>
            </a:r>
          </a:p>
        </p:txBody>
      </p:sp>
      <p:sp>
        <p:nvSpPr>
          <p:cNvPr id="17" name="Cara sonriente 16">
            <a:extLst>
              <a:ext uri="{FF2B5EF4-FFF2-40B4-BE49-F238E27FC236}">
                <a16:creationId xmlns:a16="http://schemas.microsoft.com/office/drawing/2014/main" id="{A7789304-9825-8E5A-D489-7CAAD96641C5}"/>
              </a:ext>
            </a:extLst>
          </p:cNvPr>
          <p:cNvSpPr/>
          <p:nvPr/>
        </p:nvSpPr>
        <p:spPr>
          <a:xfrm>
            <a:off x="9123217" y="2294563"/>
            <a:ext cx="1143000" cy="1066800"/>
          </a:xfrm>
          <a:prstGeom prst="smileyFace">
            <a:avLst/>
          </a:prstGeom>
          <a:solidFill>
            <a:srgbClr val="FFFF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8" name="Sol 17">
            <a:extLst>
              <a:ext uri="{FF2B5EF4-FFF2-40B4-BE49-F238E27FC236}">
                <a16:creationId xmlns:a16="http://schemas.microsoft.com/office/drawing/2014/main" id="{73B2CE46-CE25-F0E2-4A1B-72FA7D106C0E}"/>
              </a:ext>
            </a:extLst>
          </p:cNvPr>
          <p:cNvSpPr/>
          <p:nvPr/>
        </p:nvSpPr>
        <p:spPr>
          <a:xfrm>
            <a:off x="13030200" y="2419428"/>
            <a:ext cx="1713595" cy="1634138"/>
          </a:xfrm>
          <a:prstGeom prst="sun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05902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00"/>
        </a:solidFill>
        <a:ln w="38100"/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350</Words>
  <Application>Microsoft Office PowerPoint</Application>
  <PresentationFormat>Personalizado</PresentationFormat>
  <Paragraphs>59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6" baseType="lpstr">
      <vt:lpstr>Nourd Bold</vt:lpstr>
      <vt:lpstr>Calibri</vt:lpstr>
      <vt:lpstr>Nourd Light</vt:lpstr>
      <vt:lpstr>Nourd Semi-Bold</vt:lpstr>
      <vt:lpstr>Arial</vt:lpstr>
      <vt:lpstr>Nourd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Guillermo Arce Guarena</cp:lastModifiedBy>
  <cp:revision>4</cp:revision>
  <dcterms:created xsi:type="dcterms:W3CDTF">2006-08-16T00:00:00Z</dcterms:created>
  <dcterms:modified xsi:type="dcterms:W3CDTF">2026-08-26T00:50:09Z</dcterms:modified>
  <dc:identifier>DAHSIM3aAfE</dc:identifier>
</cp:coreProperties>
</file>